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6" r:id="rId12"/>
    <p:sldId id="267" r:id="rId13"/>
    <p:sldId id="265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2078"/>
    <a:srgbClr val="8D2853"/>
    <a:srgbClr val="BC80E0"/>
    <a:srgbClr val="E8171B"/>
    <a:srgbClr val="74F7DF"/>
    <a:srgbClr val="F7B275"/>
    <a:srgbClr val="FF0000"/>
    <a:srgbClr val="FBD9EC"/>
    <a:srgbClr val="F283C2"/>
    <a:srgbClr val="8BB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A5D12-52CE-FBB1-2203-F638DB0C83AA}" v="1948" dt="2025-12-07T12:16:55.649"/>
    <p1510:client id="{5BFD31F8-D6EC-9399-646D-65ADAF4C178C}" v="43" dt="2025-12-07T12:22:34.872"/>
    <p1510:client id="{7A26E1C4-CA19-8D6D-F4A5-16440B083614}" v="684" dt="2025-12-07T13:24:07.111"/>
    <p1510:client id="{AE2D253D-519C-2E64-A7C1-A054D784E639}" v="267" dt="2025-12-06T09:37:29.083"/>
    <p1510:client id="{E77EBABA-FFCB-14B8-0589-6F2F119E0639}" v="22" dt="2025-12-07T13:34:50.224"/>
    <p1510:client id="{FBC10D0C-C706-D46A-9D9E-0847BB2FAFBE}" v="585" dt="2025-12-07T11:00:48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5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92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6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4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3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6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5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68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70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6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30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6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6951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74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16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1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8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pherical digital mesh network">
            <a:extLst>
              <a:ext uri="{FF2B5EF4-FFF2-40B4-BE49-F238E27FC236}">
                <a16:creationId xmlns:a16="http://schemas.microsoft.com/office/drawing/2014/main" id="{62BC07B0-4E4B-DE1F-7B24-EED19101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02" t="771" b="832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b="1" kern="1200">
                <a:latin typeface="+mj-lt"/>
                <a:ea typeface="+mj-ea"/>
                <a:cs typeface="+mj-cs"/>
              </a:rPr>
              <a:t>Normal Forms</a:t>
            </a:r>
            <a:endParaRPr lang="en-US" sz="4400" b="1" kern="1200">
              <a:latin typeface="+mj-lt"/>
            </a:endParaRPr>
          </a:p>
          <a:p>
            <a:endParaRPr lang="en-US" sz="4400" b="1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6102" y="3497598"/>
            <a:ext cx="4079721" cy="10969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Database course – Dr/ Yasser</a:t>
            </a:r>
            <a:br>
              <a:rPr lang="en-US" sz="1600"/>
            </a:br>
            <a:r>
              <a:rPr lang="en-US" sz="1600" dirty="0"/>
              <a:t>by Mahmoud Azmy – Cyber/G2 </a:t>
            </a:r>
            <a:endParaRPr lang="en-US" sz="1600"/>
          </a:p>
          <a:p>
            <a:pPr indent="-228600">
              <a:buFont typeface="Arial" panose="020B0604020202020204" pitchFamily="34" charset="0"/>
              <a:buChar char="•"/>
            </a:pPr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79FF21E-FA30-F54F-8057-A164E8A64F69}"/>
              </a:ext>
            </a:extLst>
          </p:cNvPr>
          <p:cNvSpPr/>
          <p:nvPr/>
        </p:nvSpPr>
        <p:spPr>
          <a:xfrm>
            <a:off x="1035277" y="1557106"/>
            <a:ext cx="5673090" cy="25400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94A5767-B894-F8AE-1AD9-3B4DE6737B8D}"/>
              </a:ext>
            </a:extLst>
          </p:cNvPr>
          <p:cNvSpPr txBox="1">
            <a:spLocks noGrp="1"/>
          </p:cNvSpPr>
          <p:nvPr/>
        </p:nvSpPr>
        <p:spPr>
          <a:xfrm>
            <a:off x="1033620" y="1081494"/>
            <a:ext cx="6527345" cy="44820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/>
              <a:t>What</a:t>
            </a:r>
            <a:r>
              <a:rPr sz="2800" spc="45" dirty="0"/>
              <a:t> </a:t>
            </a:r>
            <a:r>
              <a:rPr sz="2800" dirty="0"/>
              <a:t>is</a:t>
            </a:r>
            <a:r>
              <a:rPr sz="2800" spc="40" dirty="0"/>
              <a:t> </a:t>
            </a:r>
            <a:r>
              <a:rPr sz="2800" spc="-10" dirty="0"/>
              <a:t>Normalization?</a:t>
            </a:r>
            <a:endParaRPr lang="en-US" sz="2800" spc="-10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513101D-A6AD-E1A9-90E0-2CDA1DC13B07}"/>
              </a:ext>
            </a:extLst>
          </p:cNvPr>
          <p:cNvSpPr txBox="1"/>
          <p:nvPr/>
        </p:nvSpPr>
        <p:spPr>
          <a:xfrm>
            <a:off x="1033620" y="1721486"/>
            <a:ext cx="5954616" cy="2158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33500"/>
              </a:lnSpc>
              <a:spcBef>
                <a:spcPts val="100"/>
              </a:spcBef>
            </a:pP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Normalization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is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process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organizing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data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in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database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reduce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444444"/>
                </a:solidFill>
                <a:latin typeface="Arial MT"/>
                <a:cs typeface="Arial MT"/>
              </a:rPr>
              <a:t>redundancy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improve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data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444444"/>
                </a:solidFill>
                <a:latin typeface="Arial MT"/>
                <a:cs typeface="Arial MT"/>
              </a:rPr>
              <a:t>integrity.</a:t>
            </a:r>
            <a:endParaRPr lang="en-US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dirty="0">
              <a:latin typeface="Arial MT"/>
              <a:cs typeface="Arial MT"/>
            </a:endParaRPr>
          </a:p>
          <a:p>
            <a:pPr marL="517525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Arial MT"/>
                <a:cs typeface="Arial MT"/>
              </a:rPr>
              <a:t>Eliminates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duplicate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data</a:t>
            </a:r>
            <a:endParaRPr dirty="0">
              <a:latin typeface="Arial MT"/>
              <a:cs typeface="Arial MT"/>
            </a:endParaRPr>
          </a:p>
          <a:p>
            <a:pPr marL="517525">
              <a:lnSpc>
                <a:spcPct val="100000"/>
              </a:lnSpc>
              <a:spcBef>
                <a:spcPts val="944"/>
              </a:spcBef>
            </a:pPr>
            <a:r>
              <a:rPr dirty="0">
                <a:latin typeface="Arial MT"/>
                <a:cs typeface="Arial MT"/>
              </a:rPr>
              <a:t>Ensures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data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dependencies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sense</a:t>
            </a:r>
            <a:endParaRPr dirty="0">
              <a:latin typeface="Arial MT"/>
              <a:cs typeface="Arial MT"/>
            </a:endParaRPr>
          </a:p>
          <a:p>
            <a:pPr marL="517525">
              <a:lnSpc>
                <a:spcPct val="100000"/>
              </a:lnSpc>
              <a:spcBef>
                <a:spcPts val="944"/>
              </a:spcBef>
            </a:pPr>
            <a:r>
              <a:rPr dirty="0">
                <a:latin typeface="Arial MT"/>
                <a:cs typeface="Arial MT"/>
              </a:rPr>
              <a:t>Prevents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update,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insertion,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deletion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anomalies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7" name="Picture 6" descr="A yellow and purple folders&#10;&#10;AI-generated content may be incorrect.">
            <a:extLst>
              <a:ext uri="{FF2B5EF4-FFF2-40B4-BE49-F238E27FC236}">
                <a16:creationId xmlns:a16="http://schemas.microsoft.com/office/drawing/2014/main" id="{47693A1D-1963-709D-F70F-AAD1C7C6C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29" y="4026935"/>
            <a:ext cx="2703689" cy="265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713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6952D0B-821C-09EE-A19B-F23E6E5F89F7}"/>
              </a:ext>
            </a:extLst>
          </p:cNvPr>
          <p:cNvSpPr/>
          <p:nvPr/>
        </p:nvSpPr>
        <p:spPr>
          <a:xfrm>
            <a:off x="904649" y="1306736"/>
            <a:ext cx="4845776" cy="25400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B90D2A2A-E26F-A680-F8E8-06D649CC04C7}"/>
              </a:ext>
            </a:extLst>
          </p:cNvPr>
          <p:cNvGrpSpPr/>
          <p:nvPr/>
        </p:nvGrpSpPr>
        <p:grpSpPr>
          <a:xfrm>
            <a:off x="893794" y="1573597"/>
            <a:ext cx="4517692" cy="2845861"/>
            <a:chOff x="1025632" y="1834854"/>
            <a:chExt cx="5933519" cy="3338186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68F45B5-5EA8-67DE-B9D8-E7447D4BB423}"/>
                </a:ext>
              </a:extLst>
            </p:cNvPr>
            <p:cNvSpPr/>
            <p:nvPr/>
          </p:nvSpPr>
          <p:spPr>
            <a:xfrm>
              <a:off x="1025632" y="1834854"/>
              <a:ext cx="5933519" cy="3338186"/>
            </a:xfrm>
            <a:custGeom>
              <a:avLst/>
              <a:gdLst/>
              <a:ahLst/>
              <a:cxnLst/>
              <a:rect l="l" t="t" r="r" b="b"/>
              <a:pathLst>
                <a:path w="5673090" h="2373629">
                  <a:moveTo>
                    <a:pt x="5609869" y="2373476"/>
                  </a:moveTo>
                  <a:lnTo>
                    <a:pt x="62911" y="2373476"/>
                  </a:lnTo>
                  <a:lnTo>
                    <a:pt x="58532" y="2373045"/>
                  </a:lnTo>
                  <a:lnTo>
                    <a:pt x="22847" y="2356879"/>
                  </a:lnTo>
                  <a:lnTo>
                    <a:pt x="2156" y="2323613"/>
                  </a:lnTo>
                  <a:lnTo>
                    <a:pt x="0" y="2310565"/>
                  </a:lnTo>
                  <a:lnTo>
                    <a:pt x="0" y="2306145"/>
                  </a:lnTo>
                  <a:lnTo>
                    <a:pt x="0" y="62910"/>
                  </a:lnTo>
                  <a:lnTo>
                    <a:pt x="13803" y="26246"/>
                  </a:lnTo>
                  <a:lnTo>
                    <a:pt x="45650" y="3431"/>
                  </a:lnTo>
                  <a:lnTo>
                    <a:pt x="62911" y="0"/>
                  </a:lnTo>
                  <a:lnTo>
                    <a:pt x="5609869" y="0"/>
                  </a:lnTo>
                  <a:lnTo>
                    <a:pt x="5646532" y="13799"/>
                  </a:lnTo>
                  <a:lnTo>
                    <a:pt x="5669347" y="45648"/>
                  </a:lnTo>
                  <a:lnTo>
                    <a:pt x="5672782" y="62910"/>
                  </a:lnTo>
                  <a:lnTo>
                    <a:pt x="5672782" y="2310565"/>
                  </a:lnTo>
                  <a:lnTo>
                    <a:pt x="5658977" y="2347226"/>
                  </a:lnTo>
                  <a:lnTo>
                    <a:pt x="5627130" y="2370041"/>
                  </a:lnTo>
                  <a:lnTo>
                    <a:pt x="5614248" y="2373045"/>
                  </a:lnTo>
                  <a:lnTo>
                    <a:pt x="5609869" y="2373476"/>
                  </a:lnTo>
                  <a:close/>
                </a:path>
              </a:pathLst>
            </a:custGeom>
            <a:solidFill>
              <a:srgbClr val="FBD9EC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6538389E-80E3-7E7C-BF98-7512D290AB2D}"/>
                </a:ext>
              </a:extLst>
            </p:cNvPr>
            <p:cNvSpPr/>
            <p:nvPr/>
          </p:nvSpPr>
          <p:spPr>
            <a:xfrm>
              <a:off x="1607604" y="2777514"/>
              <a:ext cx="42545" cy="951230"/>
            </a:xfrm>
            <a:custGeom>
              <a:avLst/>
              <a:gdLst/>
              <a:ahLst/>
              <a:cxnLst/>
              <a:rect l="l" t="t" r="r" b="b"/>
              <a:pathLst>
                <a:path w="42544" h="951229">
                  <a:moveTo>
                    <a:pt x="42075" y="927239"/>
                  </a:moveTo>
                  <a:lnTo>
                    <a:pt x="23825" y="908989"/>
                  </a:lnTo>
                  <a:lnTo>
                    <a:pt x="18249" y="908989"/>
                  </a:lnTo>
                  <a:lnTo>
                    <a:pt x="0" y="927239"/>
                  </a:lnTo>
                  <a:lnTo>
                    <a:pt x="0" y="932827"/>
                  </a:lnTo>
                  <a:lnTo>
                    <a:pt x="18249" y="951077"/>
                  </a:lnTo>
                  <a:lnTo>
                    <a:pt x="23825" y="951077"/>
                  </a:lnTo>
                  <a:lnTo>
                    <a:pt x="42075" y="932827"/>
                  </a:lnTo>
                  <a:lnTo>
                    <a:pt x="42075" y="930033"/>
                  </a:lnTo>
                  <a:lnTo>
                    <a:pt x="42075" y="927239"/>
                  </a:lnTo>
                  <a:close/>
                </a:path>
                <a:path w="42544" h="951229">
                  <a:moveTo>
                    <a:pt x="42075" y="624243"/>
                  </a:moveTo>
                  <a:lnTo>
                    <a:pt x="23825" y="605993"/>
                  </a:lnTo>
                  <a:lnTo>
                    <a:pt x="18249" y="605993"/>
                  </a:lnTo>
                  <a:lnTo>
                    <a:pt x="0" y="624243"/>
                  </a:lnTo>
                  <a:lnTo>
                    <a:pt x="0" y="629831"/>
                  </a:lnTo>
                  <a:lnTo>
                    <a:pt x="18249" y="648081"/>
                  </a:lnTo>
                  <a:lnTo>
                    <a:pt x="23825" y="648081"/>
                  </a:lnTo>
                  <a:lnTo>
                    <a:pt x="42075" y="629831"/>
                  </a:lnTo>
                  <a:lnTo>
                    <a:pt x="42075" y="627037"/>
                  </a:lnTo>
                  <a:lnTo>
                    <a:pt x="42075" y="624243"/>
                  </a:lnTo>
                  <a:close/>
                </a:path>
                <a:path w="42544" h="951229">
                  <a:moveTo>
                    <a:pt x="42075" y="321246"/>
                  </a:moveTo>
                  <a:lnTo>
                    <a:pt x="23825" y="302996"/>
                  </a:lnTo>
                  <a:lnTo>
                    <a:pt x="18249" y="302996"/>
                  </a:lnTo>
                  <a:lnTo>
                    <a:pt x="0" y="321246"/>
                  </a:lnTo>
                  <a:lnTo>
                    <a:pt x="0" y="326834"/>
                  </a:lnTo>
                  <a:lnTo>
                    <a:pt x="18249" y="345084"/>
                  </a:lnTo>
                  <a:lnTo>
                    <a:pt x="23825" y="345084"/>
                  </a:lnTo>
                  <a:lnTo>
                    <a:pt x="42075" y="326834"/>
                  </a:lnTo>
                  <a:lnTo>
                    <a:pt x="42075" y="324040"/>
                  </a:lnTo>
                  <a:lnTo>
                    <a:pt x="42075" y="321246"/>
                  </a:lnTo>
                  <a:close/>
                </a:path>
                <a:path w="42544" h="951229">
                  <a:moveTo>
                    <a:pt x="42075" y="18249"/>
                  </a:moveTo>
                  <a:lnTo>
                    <a:pt x="23825" y="0"/>
                  </a:lnTo>
                  <a:lnTo>
                    <a:pt x="18249" y="0"/>
                  </a:lnTo>
                  <a:lnTo>
                    <a:pt x="0" y="18249"/>
                  </a:lnTo>
                  <a:lnTo>
                    <a:pt x="0" y="23837"/>
                  </a:lnTo>
                  <a:lnTo>
                    <a:pt x="18249" y="42087"/>
                  </a:lnTo>
                  <a:lnTo>
                    <a:pt x="23825" y="42087"/>
                  </a:lnTo>
                  <a:lnTo>
                    <a:pt x="42075" y="23837"/>
                  </a:lnTo>
                  <a:lnTo>
                    <a:pt x="42075" y="21043"/>
                  </a:lnTo>
                  <a:lnTo>
                    <a:pt x="42075" y="182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B06E2AA-3784-493A-B099-38C7EB50E39D}"/>
              </a:ext>
            </a:extLst>
          </p:cNvPr>
          <p:cNvSpPr txBox="1">
            <a:spLocks noGrp="1"/>
          </p:cNvSpPr>
          <p:nvPr/>
        </p:nvSpPr>
        <p:spPr>
          <a:xfrm>
            <a:off x="913720" y="700494"/>
            <a:ext cx="4705803" cy="44820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/>
              <a:t>Why</a:t>
            </a:r>
            <a:r>
              <a:rPr sz="2800" spc="110" dirty="0"/>
              <a:t> </a:t>
            </a:r>
            <a:r>
              <a:rPr sz="2800" dirty="0"/>
              <a:t>Normalization</a:t>
            </a:r>
            <a:r>
              <a:rPr sz="2800" spc="105" dirty="0"/>
              <a:t> </a:t>
            </a:r>
            <a:r>
              <a:rPr sz="2800" spc="-10" dirty="0"/>
              <a:t>Matters</a:t>
            </a:r>
            <a:endParaRPr lang="en-US" sz="2800"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8078AD-C1F7-6451-5CDF-7D3264D7F8EC}"/>
              </a:ext>
            </a:extLst>
          </p:cNvPr>
          <p:cNvSpPr txBox="1"/>
          <p:nvPr/>
        </p:nvSpPr>
        <p:spPr>
          <a:xfrm>
            <a:off x="918524" y="1712288"/>
            <a:ext cx="4838699" cy="1973617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10" dirty="0">
                <a:solidFill>
                  <a:srgbClr val="333333"/>
                </a:solidFill>
                <a:latin typeface="Arial"/>
                <a:cs typeface="Arial"/>
              </a:rPr>
              <a:t>Benefits:</a:t>
            </a:r>
            <a:endParaRPr lang="en-US">
              <a:latin typeface="Arial"/>
              <a:cs typeface="Arial"/>
            </a:endParaRPr>
          </a:p>
          <a:p>
            <a:pPr marL="671830" indent="-154305">
              <a:lnSpc>
                <a:spcPct val="100000"/>
              </a:lnSpc>
              <a:spcBef>
                <a:spcPts val="1660"/>
              </a:spcBef>
              <a:buFont typeface="Segoe UI Symbol"/>
              <a:buChar char="✓"/>
              <a:tabLst>
                <a:tab pos="671830" algn="l"/>
              </a:tabLst>
            </a:pPr>
            <a:r>
              <a:rPr dirty="0">
                <a:latin typeface="Arial MT"/>
                <a:cs typeface="Arial MT"/>
              </a:rPr>
              <a:t>Reduces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data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redundancy</a:t>
            </a:r>
            <a:endParaRPr dirty="0">
              <a:latin typeface="Arial MT"/>
              <a:cs typeface="Arial MT"/>
            </a:endParaRPr>
          </a:p>
          <a:p>
            <a:pPr marL="671830" indent="-154305">
              <a:lnSpc>
                <a:spcPct val="100000"/>
              </a:lnSpc>
              <a:spcBef>
                <a:spcPts val="944"/>
              </a:spcBef>
              <a:buFont typeface="Segoe UI Symbol"/>
              <a:buChar char="✓"/>
              <a:tabLst>
                <a:tab pos="671830" algn="l"/>
              </a:tabLst>
            </a:pPr>
            <a:r>
              <a:rPr dirty="0">
                <a:latin typeface="Arial MT"/>
                <a:cs typeface="Arial MT"/>
              </a:rPr>
              <a:t>Improves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data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consistency</a:t>
            </a:r>
            <a:endParaRPr dirty="0">
              <a:latin typeface="Arial MT"/>
              <a:cs typeface="Arial MT"/>
            </a:endParaRPr>
          </a:p>
          <a:p>
            <a:pPr marL="671830" indent="-154305">
              <a:lnSpc>
                <a:spcPct val="100000"/>
              </a:lnSpc>
              <a:spcBef>
                <a:spcPts val="944"/>
              </a:spcBef>
              <a:buFont typeface="Segoe UI Symbol"/>
              <a:buChar char="✓"/>
              <a:tabLst>
                <a:tab pos="671830" algn="l"/>
              </a:tabLst>
            </a:pPr>
            <a:r>
              <a:rPr dirty="0">
                <a:latin typeface="Arial MT"/>
                <a:cs typeface="Arial MT"/>
              </a:rPr>
              <a:t>Makes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database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maintenance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easier</a:t>
            </a:r>
            <a:endParaRPr dirty="0">
              <a:latin typeface="Arial MT"/>
              <a:cs typeface="Arial MT"/>
            </a:endParaRPr>
          </a:p>
          <a:p>
            <a:pPr marL="671830" indent="-154305">
              <a:lnSpc>
                <a:spcPct val="100000"/>
              </a:lnSpc>
              <a:spcBef>
                <a:spcPts val="950"/>
              </a:spcBef>
              <a:buFont typeface="Segoe UI Symbol"/>
              <a:buChar char="✓"/>
              <a:tabLst>
                <a:tab pos="671830" algn="l"/>
              </a:tabLst>
            </a:pPr>
            <a:r>
              <a:rPr dirty="0">
                <a:latin typeface="Arial MT"/>
                <a:cs typeface="Arial MT"/>
              </a:rPr>
              <a:t>Prevents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logical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inconsistencies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10" name="Graphic 9" descr="Paperclip outline">
            <a:extLst>
              <a:ext uri="{FF2B5EF4-FFF2-40B4-BE49-F238E27FC236}">
                <a16:creationId xmlns:a16="http://schemas.microsoft.com/office/drawing/2014/main" id="{E1D3EB77-D1DD-C779-57AA-237DA2293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3163" y="2541386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B640C8-71AB-37BC-D3FE-B58D70A1E26E}"/>
              </a:ext>
            </a:extLst>
          </p:cNvPr>
          <p:cNvSpPr txBox="1"/>
          <p:nvPr/>
        </p:nvSpPr>
        <p:spPr>
          <a:xfrm>
            <a:off x="5958133" y="2907928"/>
            <a:ext cx="3948895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44444"/>
                </a:solidFill>
                <a:ea typeface="+mn-lt"/>
                <a:cs typeface="+mn-lt"/>
              </a:rPr>
              <a:t>Without proper normalization, updating data can lead to errors and inconsistencies </a:t>
            </a:r>
            <a:br>
              <a:rPr lang="en-US" sz="1600" dirty="0">
                <a:ea typeface="+mn-lt"/>
                <a:cs typeface="+mn-lt"/>
              </a:rPr>
            </a:br>
            <a:br>
              <a:rPr lang="en-US" sz="1600" dirty="0">
                <a:ea typeface="+mn-lt"/>
                <a:cs typeface="+mn-lt"/>
              </a:rPr>
            </a:br>
            <a:br>
              <a:rPr lang="en-US" sz="1600" dirty="0">
                <a:ea typeface="+mn-lt"/>
                <a:cs typeface="+mn-lt"/>
              </a:rPr>
            </a:br>
            <a:r>
              <a:rPr lang="en-US" sz="1600" dirty="0">
                <a:solidFill>
                  <a:srgbClr val="444444"/>
                </a:solidFill>
                <a:ea typeface="+mn-lt"/>
                <a:cs typeface="+mn-lt"/>
              </a:rPr>
              <a:t>.</a:t>
            </a:r>
            <a:endParaRPr lang="en-GB" sz="1600">
              <a:ea typeface="+mn-lt"/>
              <a:cs typeface="+mn-lt"/>
            </a:endParaRPr>
          </a:p>
          <a:p>
            <a:pPr algn="l"/>
            <a:endParaRPr lang="en-GB" dirty="0"/>
          </a:p>
        </p:txBody>
      </p:sp>
      <p:pic>
        <p:nvPicPr>
          <p:cNvPr id="12" name="Picture 11" descr="Database Normalization ...">
            <a:extLst>
              <a:ext uri="{FF2B5EF4-FFF2-40B4-BE49-F238E27FC236}">
                <a16:creationId xmlns:a16="http://schemas.microsoft.com/office/drawing/2014/main" id="{1F8D4FA9-790A-7AD8-E6B7-D291CE128B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870" r="688"/>
          <a:stretch>
            <a:fillRect/>
          </a:stretch>
        </p:blipFill>
        <p:spPr>
          <a:xfrm>
            <a:off x="2317787" y="4904789"/>
            <a:ext cx="5571605" cy="171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214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B59AC351-2E27-ACDD-78D4-EFD11F13337B}"/>
              </a:ext>
            </a:extLst>
          </p:cNvPr>
          <p:cNvSpPr txBox="1">
            <a:spLocks noGrp="1"/>
          </p:cNvSpPr>
          <p:nvPr/>
        </p:nvSpPr>
        <p:spPr>
          <a:xfrm>
            <a:off x="857055" y="619969"/>
            <a:ext cx="5511345" cy="44820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/>
              <a:t>Recap:</a:t>
            </a:r>
            <a:r>
              <a:rPr sz="2800" spc="60" dirty="0"/>
              <a:t> </a:t>
            </a:r>
            <a:r>
              <a:rPr sz="2800" dirty="0"/>
              <a:t>First</a:t>
            </a:r>
            <a:r>
              <a:rPr sz="2800" spc="75" dirty="0"/>
              <a:t> </a:t>
            </a:r>
            <a:r>
              <a:rPr sz="2800" dirty="0"/>
              <a:t>Normal</a:t>
            </a:r>
            <a:r>
              <a:rPr sz="2800" spc="70" dirty="0"/>
              <a:t> </a:t>
            </a:r>
            <a:r>
              <a:rPr sz="2800" dirty="0"/>
              <a:t>Form</a:t>
            </a:r>
            <a:r>
              <a:rPr sz="2800" spc="75" dirty="0"/>
              <a:t> </a:t>
            </a:r>
            <a:r>
              <a:rPr sz="2800" spc="-10" dirty="0"/>
              <a:t>(1NF)</a:t>
            </a:r>
            <a:endParaRPr lang="en-US" sz="2800" spc="-10" dirty="0"/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0028EAD2-6C99-B5EE-4521-2595C118DD7D}"/>
              </a:ext>
            </a:extLst>
          </p:cNvPr>
          <p:cNvSpPr txBox="1"/>
          <p:nvPr/>
        </p:nvSpPr>
        <p:spPr>
          <a:xfrm>
            <a:off x="861580" y="1302371"/>
            <a:ext cx="4846266" cy="1772921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kern="0"/>
            </a:defPPr>
          </a:lstStyle>
          <a:p>
            <a:pPr marL="298450" indent="-285750">
              <a:spcBef>
                <a:spcPts val="105"/>
              </a:spcBef>
              <a:buFont typeface="Arial"/>
              <a:buChar char="•"/>
            </a:pP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Must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have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Primary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spc="-25" dirty="0">
                <a:solidFill>
                  <a:srgbClr val="444444"/>
                </a:solidFill>
                <a:latin typeface="Arial"/>
                <a:cs typeface="Arial"/>
              </a:rPr>
              <a:t>Key</a:t>
            </a:r>
            <a:br>
              <a:rPr lang="en-GB" sz="1450" b="1" spc="-25" dirty="0">
                <a:solidFill>
                  <a:srgbClr val="444444"/>
                </a:solidFill>
                <a:latin typeface="Arial"/>
                <a:cs typeface="Arial"/>
              </a:rPr>
            </a:br>
            <a:r>
              <a:rPr lang="en-US" sz="1450" b="1" spc="-25" dirty="0">
                <a:solidFill>
                  <a:srgbClr val="444444"/>
                </a:solidFill>
                <a:latin typeface="Arial"/>
                <a:cs typeface="Arial"/>
              </a:rPr>
              <a:t> </a:t>
            </a:r>
            <a:r>
              <a:rPr lang="en-US" sz="1200" spc="-25">
                <a:solidFill>
                  <a:srgbClr val="000000"/>
                </a:solidFill>
                <a:ea typeface="+mn-lt"/>
                <a:cs typeface="+mn-lt"/>
              </a:rPr>
              <a:t>Row order cannot convey information.</a:t>
            </a:r>
            <a:endParaRPr lang="en-US" sz="1450" b="1" spc="-25" dirty="0">
              <a:solidFill>
                <a:srgbClr val="444444"/>
              </a:solidFill>
              <a:latin typeface="Arial"/>
              <a:ea typeface="+mn-lt"/>
              <a:cs typeface="Arial"/>
            </a:endParaRPr>
          </a:p>
          <a:p>
            <a:pPr marL="184150" indent="-171450">
              <a:spcBef>
                <a:spcPts val="105"/>
              </a:spcBef>
              <a:buFont typeface="Arial"/>
              <a:buChar char="•"/>
            </a:pPr>
            <a:r>
              <a:rPr lang="en-US" sz="1200" spc="-25" dirty="0">
                <a:ea typeface="+mn-lt"/>
                <a:cs typeface="+mn-lt"/>
              </a:rPr>
              <a:t> Each column must contain only one data type.</a:t>
            </a:r>
            <a:br>
              <a:rPr lang="en-US" sz="1200" spc="-25" dirty="0">
                <a:ea typeface="+mn-lt"/>
                <a:cs typeface="+mn-lt"/>
              </a:rPr>
            </a:br>
            <a:r>
              <a:rPr lang="en-US" sz="1200" spc="-25" dirty="0">
                <a:solidFill>
                  <a:srgbClr val="000000"/>
                </a:solidFill>
                <a:latin typeface="Trebuchet MS"/>
                <a:ea typeface="+mn-lt"/>
                <a:cs typeface="Arial"/>
              </a:rPr>
              <a:t> </a:t>
            </a:r>
            <a:r>
              <a:rPr lang="en-US" sz="1200" spc="-25">
                <a:solidFill>
                  <a:srgbClr val="000000"/>
                </a:solidFill>
                <a:ea typeface="+mn-lt"/>
                <a:cs typeface="+mn-lt"/>
              </a:rPr>
              <a:t>Table must have a primary key.</a:t>
            </a:r>
            <a:endParaRPr lang="en-US" sz="1450" b="1" spc="-25">
              <a:solidFill>
                <a:srgbClr val="444444"/>
              </a:solidFill>
              <a:latin typeface="Arial"/>
              <a:ea typeface="+mn-lt"/>
              <a:cs typeface="Arial"/>
            </a:endParaRPr>
          </a:p>
          <a:p>
            <a:pPr marL="184150" indent="-171450">
              <a:spcBef>
                <a:spcPts val="105"/>
              </a:spcBef>
              <a:buFont typeface="Arial"/>
              <a:buChar char="•"/>
            </a:pPr>
            <a:r>
              <a:rPr lang="en-US" sz="1200" spc="-25">
                <a:ea typeface="+mn-lt"/>
                <a:cs typeface="+mn-lt"/>
              </a:rPr>
              <a:t> No repeating groups allowed.</a:t>
            </a:r>
            <a:br>
              <a:rPr lang="en-US" sz="1200" spc="-25" dirty="0">
                <a:ea typeface="+mn-lt"/>
                <a:cs typeface="+mn-lt"/>
              </a:rPr>
            </a:br>
            <a:endParaRPr lang="en-US" sz="1450" b="1" spc="-25">
              <a:solidFill>
                <a:srgbClr val="444444"/>
              </a:solidFill>
              <a:latin typeface="Arial"/>
              <a:ea typeface="+mn-lt"/>
              <a:cs typeface="Arial"/>
            </a:endParaRPr>
          </a:p>
          <a:p>
            <a:pPr>
              <a:spcBef>
                <a:spcPts val="1085"/>
              </a:spcBef>
            </a:pPr>
            <a:br>
              <a:rPr lang="en-GB" sz="1200" spc="-10" dirty="0">
                <a:latin typeface="Arial MT"/>
                <a:cs typeface="Arial MT"/>
              </a:rPr>
            </a:br>
            <a:endParaRPr sz="1200" spc="-10" dirty="0">
              <a:latin typeface="Arial MT"/>
              <a:cs typeface="Arial MT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CC979A8A-BC53-A5F6-592B-CF3A2940AA17}"/>
              </a:ext>
            </a:extLst>
          </p:cNvPr>
          <p:cNvSpPr txBox="1"/>
          <p:nvPr/>
        </p:nvSpPr>
        <p:spPr>
          <a:xfrm>
            <a:off x="934793" y="3542251"/>
            <a:ext cx="3572787" cy="56746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br>
              <a:rPr lang="en-GB" sz="1200" spc="-10" dirty="0">
                <a:latin typeface="Arial MT"/>
                <a:cs typeface="Arial MT"/>
              </a:rPr>
            </a:br>
            <a:br>
              <a:rPr lang="en-GB" sz="1200" spc="-10" dirty="0">
                <a:latin typeface="Arial MT"/>
                <a:cs typeface="Arial MT"/>
              </a:rPr>
            </a:br>
            <a:endParaRPr lang="en-US" sz="1200" spc="-10">
              <a:latin typeface="Arial MT"/>
              <a:cs typeface="Arial MT"/>
            </a:endParaRPr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524D83EA-89BF-FF93-9283-2BE79E810447}"/>
              </a:ext>
            </a:extLst>
          </p:cNvPr>
          <p:cNvSpPr/>
          <p:nvPr/>
        </p:nvSpPr>
        <p:spPr>
          <a:xfrm>
            <a:off x="853795" y="1064954"/>
            <a:ext cx="5347387" cy="14962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13A6DE10-830E-23B9-4559-1F47D0EEBB79}"/>
              </a:ext>
            </a:extLst>
          </p:cNvPr>
          <p:cNvSpPr/>
          <p:nvPr/>
        </p:nvSpPr>
        <p:spPr>
          <a:xfrm>
            <a:off x="813495" y="4771587"/>
            <a:ext cx="5673090" cy="942975"/>
          </a:xfrm>
          <a:custGeom>
            <a:avLst/>
            <a:gdLst/>
            <a:ahLst/>
            <a:cxnLst/>
            <a:rect l="l" t="t" r="r" b="b"/>
            <a:pathLst>
              <a:path w="5673090" h="942975">
                <a:moveTo>
                  <a:pt x="5609869" y="942658"/>
                </a:moveTo>
                <a:lnTo>
                  <a:pt x="62911" y="942658"/>
                </a:lnTo>
                <a:lnTo>
                  <a:pt x="58532" y="942226"/>
                </a:lnTo>
                <a:lnTo>
                  <a:pt x="22847" y="926058"/>
                </a:lnTo>
                <a:lnTo>
                  <a:pt x="2156" y="892791"/>
                </a:lnTo>
                <a:lnTo>
                  <a:pt x="0" y="879743"/>
                </a:lnTo>
                <a:lnTo>
                  <a:pt x="0" y="875325"/>
                </a:lnTo>
                <a:lnTo>
                  <a:pt x="0" y="62910"/>
                </a:lnTo>
                <a:lnTo>
                  <a:pt x="13803" y="26240"/>
                </a:lnTo>
                <a:lnTo>
                  <a:pt x="45650" y="3431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9"/>
                </a:lnTo>
                <a:lnTo>
                  <a:pt x="5669347" y="45645"/>
                </a:lnTo>
                <a:lnTo>
                  <a:pt x="5672782" y="62910"/>
                </a:lnTo>
                <a:lnTo>
                  <a:pt x="5672782" y="879743"/>
                </a:lnTo>
                <a:lnTo>
                  <a:pt x="5658977" y="916409"/>
                </a:lnTo>
                <a:lnTo>
                  <a:pt x="5627130" y="939218"/>
                </a:lnTo>
                <a:lnTo>
                  <a:pt x="5614248" y="942226"/>
                </a:lnTo>
                <a:lnTo>
                  <a:pt x="5609869" y="942658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3B2811B8-9AF2-AE99-F722-6B0F4D0E51CC}"/>
              </a:ext>
            </a:extLst>
          </p:cNvPr>
          <p:cNvSpPr txBox="1">
            <a:spLocks/>
          </p:cNvSpPr>
          <p:nvPr/>
        </p:nvSpPr>
        <p:spPr>
          <a:xfrm>
            <a:off x="713112" y="2854251"/>
            <a:ext cx="6179400" cy="44820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defPPr>
              <a:defRPr kern="0"/>
            </a:defPPr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GB" sz="2800" dirty="0"/>
              <a:t>Recap:</a:t>
            </a:r>
            <a:r>
              <a:rPr lang="en-GB" sz="2800" spc="70" dirty="0"/>
              <a:t> </a:t>
            </a:r>
            <a:r>
              <a:rPr lang="en-GB" sz="2800" dirty="0"/>
              <a:t>Second</a:t>
            </a:r>
            <a:r>
              <a:rPr lang="en-GB" sz="2800" spc="80" dirty="0"/>
              <a:t> </a:t>
            </a:r>
            <a:r>
              <a:rPr lang="en-GB" sz="2800" dirty="0"/>
              <a:t>Normal</a:t>
            </a:r>
            <a:r>
              <a:rPr lang="en-GB" sz="2800" spc="85" dirty="0"/>
              <a:t> </a:t>
            </a:r>
            <a:r>
              <a:rPr lang="en-GB" sz="2800" dirty="0"/>
              <a:t>Form</a:t>
            </a:r>
            <a:r>
              <a:rPr lang="en-GB" sz="2800" spc="80" dirty="0"/>
              <a:t> </a:t>
            </a:r>
            <a:r>
              <a:rPr lang="en-GB" sz="2800" spc="-10" dirty="0"/>
              <a:t>(2NF)</a:t>
            </a: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0CAC9785-14AF-B86F-CF65-42D44E50483A}"/>
              </a:ext>
            </a:extLst>
          </p:cNvPr>
          <p:cNvSpPr txBox="1"/>
          <p:nvPr/>
        </p:nvSpPr>
        <p:spPr>
          <a:xfrm>
            <a:off x="800795" y="3572147"/>
            <a:ext cx="5474335" cy="830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Remove Partial 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Dependencies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Each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non-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key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attribute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must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depend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on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"/>
                <a:cs typeface="Arial"/>
              </a:rPr>
              <a:t>entire</a:t>
            </a:r>
            <a:r>
              <a:rPr sz="1200" b="1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"/>
                <a:cs typeface="Arial"/>
              </a:rPr>
              <a:t>primary</a:t>
            </a:r>
            <a:r>
              <a:rPr sz="1200" b="1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"/>
                <a:cs typeface="Arial"/>
              </a:rPr>
              <a:t>key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,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not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just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part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43239812-E1F9-D916-57C6-26F0D18EE082}"/>
              </a:ext>
            </a:extLst>
          </p:cNvPr>
          <p:cNvSpPr txBox="1"/>
          <p:nvPr/>
        </p:nvSpPr>
        <p:spPr>
          <a:xfrm>
            <a:off x="1011209" y="5148071"/>
            <a:ext cx="518731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This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rule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applies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when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you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have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composite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primary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key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(multiple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columns).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5D9279F-BE7F-A7F3-D4DD-AF022E054815}"/>
              </a:ext>
            </a:extLst>
          </p:cNvPr>
          <p:cNvSpPr/>
          <p:nvPr/>
        </p:nvSpPr>
        <p:spPr>
          <a:xfrm>
            <a:off x="736119" y="3300798"/>
            <a:ext cx="5829665" cy="14962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27502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>
            <a:extLst>
              <a:ext uri="{FF2B5EF4-FFF2-40B4-BE49-F238E27FC236}">
                <a16:creationId xmlns:a16="http://schemas.microsoft.com/office/drawing/2014/main" id="{61C2E60F-D337-6926-F16B-514189FA69DA}"/>
              </a:ext>
            </a:extLst>
          </p:cNvPr>
          <p:cNvSpPr/>
          <p:nvPr/>
        </p:nvSpPr>
        <p:spPr>
          <a:xfrm>
            <a:off x="807102" y="1013405"/>
            <a:ext cx="4612077" cy="54336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26A7E061-5BFB-F635-4127-2F3FF4C5196F}"/>
              </a:ext>
            </a:extLst>
          </p:cNvPr>
          <p:cNvSpPr/>
          <p:nvPr/>
        </p:nvSpPr>
        <p:spPr>
          <a:xfrm>
            <a:off x="806387" y="2352763"/>
            <a:ext cx="5673090" cy="934719"/>
          </a:xfrm>
          <a:custGeom>
            <a:avLst/>
            <a:gdLst/>
            <a:ahLst/>
            <a:cxnLst/>
            <a:rect l="l" t="t" r="r" b="b"/>
            <a:pathLst>
              <a:path w="5673090" h="934720">
                <a:moveTo>
                  <a:pt x="5609869" y="934237"/>
                </a:moveTo>
                <a:lnTo>
                  <a:pt x="62911" y="934237"/>
                </a:lnTo>
                <a:lnTo>
                  <a:pt x="58532" y="933805"/>
                </a:lnTo>
                <a:lnTo>
                  <a:pt x="22847" y="917638"/>
                </a:lnTo>
                <a:lnTo>
                  <a:pt x="2156" y="884370"/>
                </a:lnTo>
                <a:lnTo>
                  <a:pt x="0" y="871322"/>
                </a:lnTo>
                <a:lnTo>
                  <a:pt x="0" y="866904"/>
                </a:lnTo>
                <a:lnTo>
                  <a:pt x="0" y="62906"/>
                </a:lnTo>
                <a:lnTo>
                  <a:pt x="13803" y="26236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9"/>
                </a:lnTo>
                <a:lnTo>
                  <a:pt x="5669347" y="45641"/>
                </a:lnTo>
                <a:lnTo>
                  <a:pt x="5672782" y="62906"/>
                </a:lnTo>
                <a:lnTo>
                  <a:pt x="5672782" y="871322"/>
                </a:lnTo>
                <a:lnTo>
                  <a:pt x="5658977" y="907985"/>
                </a:lnTo>
                <a:lnTo>
                  <a:pt x="5627130" y="930793"/>
                </a:lnTo>
                <a:lnTo>
                  <a:pt x="5614248" y="933805"/>
                </a:lnTo>
                <a:lnTo>
                  <a:pt x="5609869" y="934237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9FA46927-BCD1-D53B-4A7A-03C409ABF216}"/>
              </a:ext>
            </a:extLst>
          </p:cNvPr>
          <p:cNvSpPr txBox="1">
            <a:spLocks/>
          </p:cNvSpPr>
          <p:nvPr/>
        </p:nvSpPr>
        <p:spPr>
          <a:xfrm>
            <a:off x="804047" y="537794"/>
            <a:ext cx="551134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GB" kern="0"/>
            </a:defPPr>
            <a:lvl1pPr marL="0" algn="l" defTabSz="914400" rtl="0" eaLnBrk="1" latinLnBrk="0" hangingPunct="1">
              <a:defRPr sz="2350" b="1" i="0" kern="120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35"/>
              </a:spcBef>
            </a:pPr>
            <a:r>
              <a:rPr lang="en-GB" dirty="0"/>
              <a:t>Recap:</a:t>
            </a:r>
            <a:r>
              <a:rPr lang="en-GB" spc="75" dirty="0"/>
              <a:t> </a:t>
            </a:r>
            <a:r>
              <a:rPr lang="en-GB" dirty="0"/>
              <a:t>Third</a:t>
            </a:r>
            <a:r>
              <a:rPr lang="en-GB" spc="75" dirty="0"/>
              <a:t> </a:t>
            </a:r>
            <a:r>
              <a:rPr lang="en-GB" dirty="0"/>
              <a:t>Normal</a:t>
            </a:r>
            <a:r>
              <a:rPr lang="en-GB" spc="75" dirty="0"/>
              <a:t> </a:t>
            </a:r>
            <a:r>
              <a:rPr lang="en-GB" dirty="0"/>
              <a:t>Form</a:t>
            </a:r>
            <a:r>
              <a:rPr lang="en-GB" spc="70" dirty="0"/>
              <a:t> </a:t>
            </a:r>
            <a:r>
              <a:rPr lang="en-GB" spc="-10" dirty="0"/>
              <a:t>(3NF)</a:t>
            </a: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501A6747-F412-F96C-A7EF-CF07446C981C}"/>
              </a:ext>
            </a:extLst>
          </p:cNvPr>
          <p:cNvSpPr txBox="1"/>
          <p:nvPr/>
        </p:nvSpPr>
        <p:spPr>
          <a:xfrm>
            <a:off x="870852" y="1266124"/>
            <a:ext cx="5570220" cy="1074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Remove</a:t>
            </a:r>
            <a:r>
              <a:rPr sz="1450" b="1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Transitive</a:t>
            </a:r>
            <a:r>
              <a:rPr sz="1450" b="1" spc="-4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Dependencies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33500"/>
              </a:lnSpc>
            </a:pP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Each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non-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key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attribute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must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depend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on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key,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whole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key,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nothing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but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the 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key.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BFD2AC1A-4053-045C-C7D1-246E6AE127BD}"/>
              </a:ext>
            </a:extLst>
          </p:cNvPr>
          <p:cNvSpPr txBox="1"/>
          <p:nvPr/>
        </p:nvSpPr>
        <p:spPr>
          <a:xfrm>
            <a:off x="1428506" y="2718805"/>
            <a:ext cx="4430395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Non-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key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attributes</a:t>
            </a:r>
            <a:r>
              <a:rPr sz="1200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should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not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depend</a:t>
            </a:r>
            <a:r>
              <a:rPr sz="1200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on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other</a:t>
            </a:r>
            <a:r>
              <a:rPr sz="1200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non-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key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attributes.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BE447BB8-0D3A-6D47-B37C-F478C2E680B7}"/>
              </a:ext>
            </a:extLst>
          </p:cNvPr>
          <p:cNvSpPr/>
          <p:nvPr/>
        </p:nvSpPr>
        <p:spPr>
          <a:xfrm flipV="1">
            <a:off x="694035" y="3834866"/>
            <a:ext cx="6058912" cy="71055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8CFF921-3974-25EF-9BB6-12E24FF259EA}"/>
              </a:ext>
            </a:extLst>
          </p:cNvPr>
          <p:cNvSpPr/>
          <p:nvPr/>
        </p:nvSpPr>
        <p:spPr>
          <a:xfrm>
            <a:off x="834611" y="5432144"/>
            <a:ext cx="6021256" cy="942975"/>
          </a:xfrm>
          <a:custGeom>
            <a:avLst/>
            <a:gdLst/>
            <a:ahLst/>
            <a:cxnLst/>
            <a:rect l="l" t="t" r="r" b="b"/>
            <a:pathLst>
              <a:path w="5673090" h="942975">
                <a:moveTo>
                  <a:pt x="5609869" y="942653"/>
                </a:moveTo>
                <a:lnTo>
                  <a:pt x="62911" y="942653"/>
                </a:lnTo>
                <a:lnTo>
                  <a:pt x="58532" y="942222"/>
                </a:lnTo>
                <a:lnTo>
                  <a:pt x="22847" y="926063"/>
                </a:lnTo>
                <a:lnTo>
                  <a:pt x="2156" y="892791"/>
                </a:lnTo>
                <a:lnTo>
                  <a:pt x="0" y="879743"/>
                </a:lnTo>
                <a:lnTo>
                  <a:pt x="0" y="875325"/>
                </a:lnTo>
                <a:lnTo>
                  <a:pt x="0" y="62906"/>
                </a:lnTo>
                <a:lnTo>
                  <a:pt x="13803" y="26236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9"/>
                </a:lnTo>
                <a:lnTo>
                  <a:pt x="5669347" y="45642"/>
                </a:lnTo>
                <a:lnTo>
                  <a:pt x="5672782" y="62906"/>
                </a:lnTo>
                <a:lnTo>
                  <a:pt x="5672782" y="879743"/>
                </a:lnTo>
                <a:lnTo>
                  <a:pt x="5658977" y="916405"/>
                </a:lnTo>
                <a:lnTo>
                  <a:pt x="5627130" y="939218"/>
                </a:lnTo>
                <a:lnTo>
                  <a:pt x="5614248" y="942222"/>
                </a:lnTo>
                <a:lnTo>
                  <a:pt x="5609869" y="942653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46BAED75-42B2-61B7-1F23-C30E4481278D}"/>
              </a:ext>
            </a:extLst>
          </p:cNvPr>
          <p:cNvSpPr txBox="1">
            <a:spLocks noGrp="1"/>
          </p:cNvSpPr>
          <p:nvPr/>
        </p:nvSpPr>
        <p:spPr>
          <a:xfrm>
            <a:off x="690981" y="3414481"/>
            <a:ext cx="6253575" cy="392415"/>
          </a:xfrm>
          <a:prstGeom prst="rect">
            <a:avLst/>
          </a:prstGeom>
        </p:spPr>
        <p:txBody>
          <a:bodyPr vert="horz" wrap="square" lIns="0" tIns="33020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lnSpc>
                <a:spcPts val="2780"/>
              </a:lnSpc>
              <a:spcBef>
                <a:spcPts val="260"/>
              </a:spcBef>
            </a:pPr>
            <a:r>
              <a:rPr lang="en-GB" dirty="0"/>
              <a:t>Recap</a:t>
            </a:r>
            <a:r>
              <a:rPr dirty="0"/>
              <a:t>:</a:t>
            </a:r>
            <a:r>
              <a:rPr spc="95" dirty="0"/>
              <a:t> </a:t>
            </a:r>
            <a:r>
              <a:rPr dirty="0"/>
              <a:t>Boyce-Codd</a:t>
            </a:r>
            <a:r>
              <a:rPr spc="105" dirty="0"/>
              <a:t> </a:t>
            </a:r>
            <a:r>
              <a:rPr dirty="0"/>
              <a:t>Normal</a:t>
            </a:r>
            <a:r>
              <a:rPr spc="105" dirty="0"/>
              <a:t> </a:t>
            </a:r>
            <a:r>
              <a:rPr spc="-20" dirty="0"/>
              <a:t>Form </a:t>
            </a:r>
            <a:r>
              <a:rPr lang="en-GB" spc="-20" dirty="0"/>
              <a:t>( </a:t>
            </a:r>
            <a:r>
              <a:rPr lang="en-US" sz="2400" spc="-20" dirty="0"/>
              <a:t>BCNF</a:t>
            </a:r>
            <a:r>
              <a:rPr lang="en-GB" sz="2400" spc="-20" dirty="0"/>
              <a:t>)</a:t>
            </a:r>
            <a:endParaRPr lang="en-US" spc="-10" dirty="0"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D91F41DD-471B-AA2D-DEE7-3D07734A9CDA}"/>
              </a:ext>
            </a:extLst>
          </p:cNvPr>
          <p:cNvSpPr txBox="1"/>
          <p:nvPr/>
        </p:nvSpPr>
        <p:spPr>
          <a:xfrm>
            <a:off x="652832" y="4168512"/>
            <a:ext cx="6840805" cy="1128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All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attributes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depend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444444"/>
                </a:solidFill>
                <a:latin typeface="Arial"/>
                <a:cs typeface="Arial"/>
              </a:rPr>
              <a:t>key,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whole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444444"/>
                </a:solidFill>
                <a:latin typeface="Arial"/>
                <a:cs typeface="Arial"/>
              </a:rPr>
              <a:t>key,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sz="1450" b="1" spc="-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nothing</a:t>
            </a:r>
            <a:r>
              <a:rPr sz="1450" b="1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450" b="1" spc="-25" dirty="0">
                <a:solidFill>
                  <a:srgbClr val="444444"/>
                </a:solidFill>
                <a:latin typeface="Arial"/>
                <a:cs typeface="Arial"/>
              </a:rPr>
              <a:t>but </a:t>
            </a:r>
            <a:r>
              <a:rPr sz="1450" b="1" dirty="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sz="1450" b="1" spc="-25" dirty="0">
                <a:solidFill>
                  <a:srgbClr val="444444"/>
                </a:solidFill>
                <a:latin typeface="Arial"/>
                <a:cs typeface="Arial"/>
              </a:rPr>
              <a:t> key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450">
              <a:latin typeface="Arial"/>
              <a:cs typeface="Arial"/>
            </a:endParaRPr>
          </a:p>
          <a:p>
            <a:pPr marL="12700" marR="349885">
              <a:lnSpc>
                <a:spcPct val="133500"/>
              </a:lnSpc>
            </a:pP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z="1200" spc="-8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stronger</a:t>
            </a:r>
            <a:r>
              <a:rPr sz="1200" spc="-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version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3NF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where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"/>
                <a:cs typeface="Arial"/>
              </a:rPr>
              <a:t>every</a:t>
            </a:r>
            <a:r>
              <a:rPr sz="1200" b="1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attribute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(including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key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attributes)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must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depend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properly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on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candidate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keys.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3F54B69C-9ABE-E90C-5A1A-13EE05D7FABD}"/>
              </a:ext>
            </a:extLst>
          </p:cNvPr>
          <p:cNvSpPr txBox="1"/>
          <p:nvPr/>
        </p:nvSpPr>
        <p:spPr>
          <a:xfrm>
            <a:off x="1555290" y="5789225"/>
            <a:ext cx="4911145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Eliminates</a:t>
            </a:r>
            <a:r>
              <a:rPr sz="1200" spc="-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all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anomalies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related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functional</a:t>
            </a:r>
            <a:r>
              <a:rPr sz="12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dependencies.</a:t>
            </a:r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1335895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43B8DC6-F7F3-211D-F801-4F120F8E17A1}"/>
              </a:ext>
            </a:extLst>
          </p:cNvPr>
          <p:cNvSpPr/>
          <p:nvPr/>
        </p:nvSpPr>
        <p:spPr>
          <a:xfrm>
            <a:off x="871302" y="1036240"/>
            <a:ext cx="5673090" cy="25400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EAAEDC7-2EAA-9925-0047-369778A8A212}"/>
              </a:ext>
            </a:extLst>
          </p:cNvPr>
          <p:cNvSpPr/>
          <p:nvPr/>
        </p:nvSpPr>
        <p:spPr>
          <a:xfrm>
            <a:off x="1774683" y="1982014"/>
            <a:ext cx="5673090" cy="1380490"/>
          </a:xfrm>
          <a:custGeom>
            <a:avLst/>
            <a:gdLst/>
            <a:ahLst/>
            <a:cxnLst/>
            <a:rect l="l" t="t" r="r" b="b"/>
            <a:pathLst>
              <a:path w="5673090" h="1380489">
                <a:moveTo>
                  <a:pt x="5609869" y="1380312"/>
                </a:moveTo>
                <a:lnTo>
                  <a:pt x="62911" y="1380312"/>
                </a:lnTo>
                <a:lnTo>
                  <a:pt x="58532" y="1379877"/>
                </a:lnTo>
                <a:lnTo>
                  <a:pt x="22847" y="1363709"/>
                </a:lnTo>
                <a:lnTo>
                  <a:pt x="2156" y="1330454"/>
                </a:lnTo>
                <a:lnTo>
                  <a:pt x="0" y="1317401"/>
                </a:lnTo>
                <a:lnTo>
                  <a:pt x="0" y="1312988"/>
                </a:lnTo>
                <a:lnTo>
                  <a:pt x="0" y="62902"/>
                </a:lnTo>
                <a:lnTo>
                  <a:pt x="13803" y="26227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2"/>
                </a:lnTo>
                <a:lnTo>
                  <a:pt x="5669347" y="45633"/>
                </a:lnTo>
                <a:lnTo>
                  <a:pt x="5672782" y="62902"/>
                </a:lnTo>
                <a:lnTo>
                  <a:pt x="5672782" y="1317401"/>
                </a:lnTo>
                <a:lnTo>
                  <a:pt x="5658977" y="1354060"/>
                </a:lnTo>
                <a:lnTo>
                  <a:pt x="5627130" y="1376876"/>
                </a:lnTo>
                <a:lnTo>
                  <a:pt x="5614248" y="1379877"/>
                </a:lnTo>
                <a:lnTo>
                  <a:pt x="5609869" y="1380312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431F230-BC1B-58F0-8C5B-77FDD9D21024}"/>
              </a:ext>
            </a:extLst>
          </p:cNvPr>
          <p:cNvSpPr/>
          <p:nvPr/>
        </p:nvSpPr>
        <p:spPr>
          <a:xfrm>
            <a:off x="1722491" y="4199514"/>
            <a:ext cx="5673090" cy="1380490"/>
          </a:xfrm>
          <a:custGeom>
            <a:avLst/>
            <a:gdLst/>
            <a:ahLst/>
            <a:cxnLst/>
            <a:rect l="l" t="t" r="r" b="b"/>
            <a:pathLst>
              <a:path w="5673090" h="1380489">
                <a:moveTo>
                  <a:pt x="5609869" y="1380320"/>
                </a:moveTo>
                <a:lnTo>
                  <a:pt x="62911" y="1380320"/>
                </a:lnTo>
                <a:lnTo>
                  <a:pt x="58532" y="1379893"/>
                </a:lnTo>
                <a:lnTo>
                  <a:pt x="22847" y="1363717"/>
                </a:lnTo>
                <a:lnTo>
                  <a:pt x="2156" y="1330454"/>
                </a:lnTo>
                <a:lnTo>
                  <a:pt x="0" y="1317401"/>
                </a:lnTo>
                <a:lnTo>
                  <a:pt x="0" y="1312988"/>
                </a:lnTo>
                <a:lnTo>
                  <a:pt x="0" y="62910"/>
                </a:lnTo>
                <a:lnTo>
                  <a:pt x="13803" y="26236"/>
                </a:lnTo>
                <a:lnTo>
                  <a:pt x="45650" y="3435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2"/>
                </a:lnTo>
                <a:lnTo>
                  <a:pt x="5669347" y="45633"/>
                </a:lnTo>
                <a:lnTo>
                  <a:pt x="5672782" y="62910"/>
                </a:lnTo>
                <a:lnTo>
                  <a:pt x="5672782" y="1317401"/>
                </a:lnTo>
                <a:lnTo>
                  <a:pt x="5658977" y="1354060"/>
                </a:lnTo>
                <a:lnTo>
                  <a:pt x="5627130" y="1376885"/>
                </a:lnTo>
                <a:lnTo>
                  <a:pt x="5614248" y="1379893"/>
                </a:lnTo>
                <a:lnTo>
                  <a:pt x="5609869" y="1380320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4011F13-FFAA-5D97-2EEA-78B5ECF4AC6E}"/>
              </a:ext>
            </a:extLst>
          </p:cNvPr>
          <p:cNvSpPr txBox="1">
            <a:spLocks noGrp="1"/>
          </p:cNvSpPr>
          <p:nvPr/>
        </p:nvSpPr>
        <p:spPr>
          <a:xfrm>
            <a:off x="858602" y="560633"/>
            <a:ext cx="5511345" cy="389255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/>
              <a:t>Introduction</a:t>
            </a:r>
            <a:r>
              <a:rPr sz="2400" spc="85" dirty="0"/>
              <a:t> </a:t>
            </a:r>
            <a:r>
              <a:rPr sz="2400" dirty="0"/>
              <a:t>to</a:t>
            </a:r>
            <a:r>
              <a:rPr sz="2400" spc="85" dirty="0"/>
              <a:t> </a:t>
            </a:r>
            <a:r>
              <a:rPr sz="2400" dirty="0"/>
              <a:t>Higher</a:t>
            </a:r>
            <a:r>
              <a:rPr sz="2400" spc="80" dirty="0"/>
              <a:t> </a:t>
            </a:r>
            <a:r>
              <a:rPr sz="2400" dirty="0"/>
              <a:t>Normal</a:t>
            </a:r>
            <a:r>
              <a:rPr sz="2400" spc="85" dirty="0"/>
              <a:t> </a:t>
            </a:r>
            <a:r>
              <a:rPr sz="2400" spc="-10" dirty="0"/>
              <a:t>Forms</a:t>
            </a:r>
            <a:endParaRPr lang="en-US" sz="2400" spc="-10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C0F5AC7-EDFB-F221-7EDB-EBC5031653C4}"/>
              </a:ext>
            </a:extLst>
          </p:cNvPr>
          <p:cNvSpPr txBox="1"/>
          <p:nvPr/>
        </p:nvSpPr>
        <p:spPr>
          <a:xfrm>
            <a:off x="869040" y="1255839"/>
            <a:ext cx="7513233" cy="63696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33500"/>
              </a:lnSpc>
              <a:spcBef>
                <a:spcPts val="100"/>
              </a:spcBef>
            </a:pP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Beyond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BCNF,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we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have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4NF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5NF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that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deal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with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more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complex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44444"/>
                </a:solidFill>
                <a:latin typeface="Arial MT"/>
                <a:cs typeface="Arial MT"/>
              </a:rPr>
              <a:t>dependency issues.</a:t>
            </a:r>
            <a:endParaRPr lang="en-US" sz="1600">
              <a:latin typeface="Arial MT"/>
              <a:cs typeface="Arial MT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3572D4E-D499-CAE6-7DEF-38E94FDE3A3F}"/>
              </a:ext>
            </a:extLst>
          </p:cNvPr>
          <p:cNvSpPr txBox="1"/>
          <p:nvPr/>
        </p:nvSpPr>
        <p:spPr>
          <a:xfrm>
            <a:off x="2078498" y="2355248"/>
            <a:ext cx="4483960" cy="77585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4th</a:t>
            </a:r>
            <a:r>
              <a:rPr sz="20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Normal</a:t>
            </a:r>
            <a:r>
              <a:rPr sz="20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Form</a:t>
            </a:r>
            <a:r>
              <a:rPr sz="20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Arial"/>
                <a:cs typeface="Arial"/>
              </a:rPr>
              <a:t>(4NF)</a:t>
            </a:r>
            <a:endParaRPr lang="en-US"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Addresses</a:t>
            </a:r>
            <a:r>
              <a:rPr spc="-6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multivalued</a:t>
            </a:r>
            <a:r>
              <a:rPr spc="-6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444444"/>
                </a:solidFill>
                <a:latin typeface="Arial MT"/>
                <a:cs typeface="Arial MT"/>
              </a:rPr>
              <a:t>dependencies</a:t>
            </a:r>
            <a:endParaRPr>
              <a:latin typeface="Arial MT"/>
              <a:cs typeface="Arial MT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01F070E-8F3A-782F-AA3C-74F02841833D}"/>
              </a:ext>
            </a:extLst>
          </p:cNvPr>
          <p:cNvSpPr txBox="1"/>
          <p:nvPr/>
        </p:nvSpPr>
        <p:spPr>
          <a:xfrm>
            <a:off x="2026306" y="4505229"/>
            <a:ext cx="4037257" cy="77585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5th</a:t>
            </a:r>
            <a:r>
              <a:rPr sz="20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Normal</a:t>
            </a:r>
            <a:r>
              <a:rPr sz="20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Form</a:t>
            </a:r>
            <a:r>
              <a:rPr sz="2000" b="1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Arial"/>
                <a:cs typeface="Arial"/>
              </a:rPr>
              <a:t>(5NF)</a:t>
            </a:r>
            <a:endParaRPr lang="en-US"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Addresses</a:t>
            </a:r>
            <a:r>
              <a:rPr spc="-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join</a:t>
            </a:r>
            <a:r>
              <a:rPr spc="-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444444"/>
                </a:solidFill>
                <a:latin typeface="Arial MT"/>
                <a:cs typeface="Arial MT"/>
              </a:rPr>
              <a:t>dependencies</a:t>
            </a:r>
            <a:endParaRPr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91677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454DC7A-F8CC-129E-01FA-B4B3603BAF74}"/>
              </a:ext>
            </a:extLst>
          </p:cNvPr>
          <p:cNvSpPr/>
          <p:nvPr/>
        </p:nvSpPr>
        <p:spPr>
          <a:xfrm>
            <a:off x="1035277" y="1557110"/>
            <a:ext cx="5673090" cy="25400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E0DD6CA-FDA1-CE77-A406-833FAC0D053B}"/>
              </a:ext>
            </a:extLst>
          </p:cNvPr>
          <p:cNvSpPr/>
          <p:nvPr/>
        </p:nvSpPr>
        <p:spPr>
          <a:xfrm>
            <a:off x="933502" y="1912023"/>
            <a:ext cx="5926844" cy="3383163"/>
          </a:xfrm>
          <a:custGeom>
            <a:avLst/>
            <a:gdLst/>
            <a:ahLst/>
            <a:cxnLst/>
            <a:rect l="l" t="t" r="r" b="b"/>
            <a:pathLst>
              <a:path w="5673090" h="1616075">
                <a:moveTo>
                  <a:pt x="5609869" y="1615985"/>
                </a:moveTo>
                <a:lnTo>
                  <a:pt x="62911" y="1615985"/>
                </a:lnTo>
                <a:lnTo>
                  <a:pt x="58532" y="1615549"/>
                </a:lnTo>
                <a:lnTo>
                  <a:pt x="22847" y="1599381"/>
                </a:lnTo>
                <a:lnTo>
                  <a:pt x="2156" y="1566118"/>
                </a:lnTo>
                <a:lnTo>
                  <a:pt x="0" y="1553074"/>
                </a:lnTo>
                <a:lnTo>
                  <a:pt x="0" y="1548652"/>
                </a:lnTo>
                <a:lnTo>
                  <a:pt x="0" y="62910"/>
                </a:lnTo>
                <a:lnTo>
                  <a:pt x="13803" y="26227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83"/>
                </a:lnTo>
                <a:lnTo>
                  <a:pt x="5669347" y="45633"/>
                </a:lnTo>
                <a:lnTo>
                  <a:pt x="5672782" y="62910"/>
                </a:lnTo>
                <a:lnTo>
                  <a:pt x="5672782" y="1553074"/>
                </a:lnTo>
                <a:lnTo>
                  <a:pt x="5658977" y="1589733"/>
                </a:lnTo>
                <a:lnTo>
                  <a:pt x="5627130" y="1612541"/>
                </a:lnTo>
                <a:lnTo>
                  <a:pt x="5614248" y="1615549"/>
                </a:lnTo>
                <a:lnTo>
                  <a:pt x="5609869" y="1615985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FBD77C2-1C46-EDD2-79A1-8C0E90406936}"/>
              </a:ext>
            </a:extLst>
          </p:cNvPr>
          <p:cNvSpPr txBox="1">
            <a:spLocks noGrp="1"/>
          </p:cNvSpPr>
          <p:nvPr/>
        </p:nvSpPr>
        <p:spPr>
          <a:xfrm>
            <a:off x="1022577" y="1081494"/>
            <a:ext cx="9680573" cy="386644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5"/>
              </a:spcBef>
            </a:pPr>
            <a:r>
              <a:rPr sz="2400" dirty="0"/>
              <a:t>Fourth</a:t>
            </a:r>
            <a:r>
              <a:rPr sz="2400" spc="50" dirty="0"/>
              <a:t> </a:t>
            </a:r>
            <a:r>
              <a:rPr sz="2400" dirty="0"/>
              <a:t>Normal</a:t>
            </a:r>
            <a:r>
              <a:rPr sz="2400" spc="60" dirty="0"/>
              <a:t> </a:t>
            </a:r>
            <a:r>
              <a:rPr sz="2400" dirty="0"/>
              <a:t>Form</a:t>
            </a:r>
            <a:r>
              <a:rPr sz="2400" spc="60" dirty="0"/>
              <a:t> </a:t>
            </a:r>
            <a:r>
              <a:rPr sz="2400" dirty="0"/>
              <a:t>(4NF)</a:t>
            </a:r>
            <a:r>
              <a:rPr lang="en-GB" sz="2400" dirty="0"/>
              <a:t> - </a:t>
            </a:r>
            <a:r>
              <a:rPr lang="en-US" sz="2400" dirty="0"/>
              <a:t>Definition</a:t>
            </a:r>
            <a:endParaRPr lang="en-US" sz="2400" spc="6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BDBB52E-0016-83BD-C168-33DBA376CD48}"/>
              </a:ext>
            </a:extLst>
          </p:cNvPr>
          <p:cNvSpPr txBox="1"/>
          <p:nvPr/>
        </p:nvSpPr>
        <p:spPr>
          <a:xfrm>
            <a:off x="1052117" y="2067040"/>
            <a:ext cx="5247005" cy="1612621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25"/>
              </a:spcBef>
            </a:pPr>
            <a:r>
              <a:rPr lang="en-GB" sz="2400" b="1" spc="-10" dirty="0">
                <a:solidFill>
                  <a:srgbClr val="444444"/>
                </a:solidFill>
                <a:latin typeface="Arial"/>
                <a:cs typeface="Arial"/>
              </a:rPr>
              <a:t>Rule- define  :</a:t>
            </a:r>
            <a:endParaRPr lang="en-GB" sz="2400">
              <a:latin typeface="Arial"/>
              <a:cs typeface="Arial"/>
            </a:endParaRPr>
          </a:p>
          <a:p>
            <a:pPr marL="12700" marR="5080">
              <a:lnSpc>
                <a:spcPct val="133500"/>
              </a:lnSpc>
              <a:spcBef>
                <a:spcPts val="1170"/>
              </a:spcBef>
            </a:pP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only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kinds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of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multivalued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dependencies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allowed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in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table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are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spc="-10" dirty="0">
                <a:solidFill>
                  <a:srgbClr val="444444"/>
                </a:solidFill>
                <a:latin typeface="Arial MT"/>
                <a:cs typeface="Arial MT"/>
              </a:rPr>
              <a:t>multivalued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dependencies</a:t>
            </a:r>
            <a:r>
              <a:rPr lang="en-GB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on</a:t>
            </a:r>
            <a:r>
              <a:rPr lang="en-GB" spc="-1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lang="en-GB" spc="-1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spc="-20" dirty="0">
                <a:solidFill>
                  <a:srgbClr val="444444"/>
                </a:solidFill>
                <a:latin typeface="Arial MT"/>
                <a:cs typeface="Arial MT"/>
              </a:rPr>
              <a:t>key.</a:t>
            </a:r>
            <a:endParaRPr lang="en-GB">
              <a:latin typeface="Arial MT"/>
              <a:cs typeface="Arial MT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C1BDFC37-2729-F712-1AB9-350FBCEE25A5}"/>
              </a:ext>
            </a:extLst>
          </p:cNvPr>
          <p:cNvSpPr txBox="1"/>
          <p:nvPr/>
        </p:nvSpPr>
        <p:spPr>
          <a:xfrm>
            <a:off x="1026465" y="3932860"/>
            <a:ext cx="5663565" cy="72404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35900"/>
              </a:lnSpc>
              <a:spcBef>
                <a:spcPts val="95"/>
              </a:spcBef>
            </a:pP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In</a:t>
            </a:r>
            <a:r>
              <a:rPr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other</a:t>
            </a:r>
            <a:r>
              <a:rPr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words:</a:t>
            </a:r>
            <a:r>
              <a:rPr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Remove</a:t>
            </a:r>
            <a:r>
              <a:rPr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multivalued</a:t>
            </a:r>
            <a:r>
              <a:rPr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dependencies</a:t>
            </a:r>
            <a:r>
              <a:rPr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that</a:t>
            </a:r>
            <a:r>
              <a:rPr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don't</a:t>
            </a:r>
            <a:r>
              <a:rPr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depend</a:t>
            </a:r>
            <a:r>
              <a:rPr spc="4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on</a:t>
            </a:r>
            <a:r>
              <a:rPr spc="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the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entire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key.</a:t>
            </a:r>
            <a:endParaRPr lang="en-US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322823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894F15A0-4D3C-F8DC-E364-C4CF09BCDD32}"/>
              </a:ext>
            </a:extLst>
          </p:cNvPr>
          <p:cNvSpPr txBox="1"/>
          <p:nvPr/>
        </p:nvSpPr>
        <p:spPr>
          <a:xfrm>
            <a:off x="379915" y="593406"/>
            <a:ext cx="7661063" cy="547586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dirty="0">
                <a:solidFill>
                  <a:srgbClr val="444444"/>
                </a:solidFill>
                <a:latin typeface="Arial"/>
                <a:cs typeface="Arial"/>
              </a:rPr>
              <a:t>Problem</a:t>
            </a:r>
            <a:r>
              <a:rPr sz="1600" b="1" dirty="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sz="1600" b="1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House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design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website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with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models,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colors,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styles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all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in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one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44444"/>
                </a:solidFill>
                <a:latin typeface="Arial MT"/>
                <a:cs typeface="Arial MT"/>
              </a:rPr>
              <a:t>table.</a:t>
            </a:r>
            <a:endParaRPr lang="en-US"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4744C567-0DC2-E9A4-668E-6634B9F381A7}"/>
              </a:ext>
            </a:extLst>
          </p:cNvPr>
          <p:cNvSpPr/>
          <p:nvPr/>
        </p:nvSpPr>
        <p:spPr>
          <a:xfrm>
            <a:off x="1755993" y="1865674"/>
            <a:ext cx="3085830" cy="2034653"/>
          </a:xfrm>
          <a:prstGeom prst="flowChartDocument">
            <a:avLst/>
          </a:prstGeom>
          <a:solidFill>
            <a:srgbClr val="FF00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Model</a:t>
            </a:r>
            <a:br>
              <a:rPr lang="en-GB" dirty="0"/>
            </a:br>
            <a:r>
              <a:rPr lang="en-GB" dirty="0"/>
              <a:t>"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Villa</a:t>
            </a:r>
            <a:r>
              <a:rPr lang="en-GB" dirty="0"/>
              <a:t>"</a:t>
            </a:r>
            <a:br>
              <a:rPr lang="en-GB" dirty="0"/>
            </a:br>
            <a:r>
              <a:rPr lang="en-GB" dirty="0"/>
              <a:t>available Colores</a:t>
            </a:r>
            <a:br>
              <a:rPr lang="en-GB" dirty="0"/>
            </a:br>
            <a:r>
              <a:rPr lang="en-GB" dirty="0"/>
              <a:t>"</a:t>
            </a:r>
            <a:r>
              <a:rPr lang="en-GB" dirty="0">
                <a:solidFill>
                  <a:srgbClr val="FFFF00"/>
                </a:solidFill>
              </a:rPr>
              <a:t>yellow</a:t>
            </a:r>
            <a:r>
              <a:rPr lang="en-GB" dirty="0"/>
              <a:t>" &amp; "</a:t>
            </a:r>
            <a:r>
              <a:rPr lang="en-GB" dirty="0">
                <a:solidFill>
                  <a:srgbClr val="0070C0"/>
                </a:solidFill>
              </a:rPr>
              <a:t>blue</a:t>
            </a:r>
            <a:r>
              <a:rPr lang="en-GB" dirty="0"/>
              <a:t>"</a:t>
            </a:r>
            <a:br>
              <a:rPr lang="en-GB" dirty="0"/>
            </a:br>
            <a:r>
              <a:rPr lang="en-GB" dirty="0"/>
              <a:t>available styles</a:t>
            </a:r>
            <a:br>
              <a:rPr lang="en-GB" dirty="0"/>
            </a:br>
            <a:r>
              <a:rPr lang="en-GB" dirty="0"/>
              <a:t>"modern" &amp; "</a:t>
            </a:r>
            <a:r>
              <a:rPr lang="en-GB" dirty="0">
                <a:ea typeface="+mn-lt"/>
                <a:cs typeface="+mn-lt"/>
              </a:rPr>
              <a:t>classic</a:t>
            </a:r>
            <a:r>
              <a:rPr lang="en-GB" dirty="0"/>
              <a:t>"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0FE88F9C-6BB9-7062-508E-A8641A617358}"/>
              </a:ext>
            </a:extLst>
          </p:cNvPr>
          <p:cNvSpPr/>
          <p:nvPr/>
        </p:nvSpPr>
        <p:spPr>
          <a:xfrm>
            <a:off x="5409417" y="1865674"/>
            <a:ext cx="3085830" cy="2045091"/>
          </a:xfrm>
          <a:prstGeom prst="flowChartDocument">
            <a:avLst/>
          </a:prstGeom>
          <a:solidFill>
            <a:srgbClr val="E8171B">
              <a:alpha val="57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/>
              <a:t>Model</a:t>
            </a:r>
            <a:br>
              <a:rPr lang="en-GB" dirty="0"/>
            </a:br>
            <a:r>
              <a:rPr lang="en-GB" dirty="0"/>
              <a:t>"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Studio</a:t>
            </a:r>
            <a:r>
              <a:rPr lang="en-GB" dirty="0"/>
              <a:t>"</a:t>
            </a:r>
            <a:br>
              <a:rPr lang="en-GB" dirty="0"/>
            </a:br>
            <a:r>
              <a:rPr lang="en-GB" dirty="0"/>
              <a:t>available Colores</a:t>
            </a:r>
            <a:br>
              <a:rPr lang="en-GB" dirty="0"/>
            </a:br>
            <a:r>
              <a:rPr lang="en-GB" dirty="0"/>
              <a:t>"</a:t>
            </a:r>
            <a:r>
              <a:rPr lang="en-GB" dirty="0">
                <a:solidFill>
                  <a:srgbClr val="541C1C"/>
                </a:solidFill>
              </a:rPr>
              <a:t>brown</a:t>
            </a:r>
            <a:r>
              <a:rPr lang="en-GB" dirty="0"/>
              <a:t>" &amp; "</a:t>
            </a:r>
            <a:r>
              <a:rPr lang="en-GB" dirty="0">
                <a:solidFill>
                  <a:schemeClr val="tx1">
                    <a:lumMod val="49000"/>
                    <a:lumOff val="51000"/>
                  </a:schemeClr>
                </a:solidFill>
              </a:rPr>
              <a:t>grey</a:t>
            </a:r>
            <a:r>
              <a:rPr lang="en-GB" dirty="0"/>
              <a:t>"</a:t>
            </a:r>
            <a:br>
              <a:rPr lang="en-GB" dirty="0"/>
            </a:br>
            <a:r>
              <a:rPr lang="en-GB" dirty="0"/>
              <a:t>available styles</a:t>
            </a:r>
            <a:br>
              <a:rPr lang="en-GB" dirty="0"/>
            </a:br>
            <a:r>
              <a:rPr lang="en-GB" dirty="0"/>
              <a:t>"</a:t>
            </a:r>
            <a:r>
              <a:rPr lang="en-GB" dirty="0">
                <a:ea typeface="+mn-lt"/>
                <a:cs typeface="+mn-lt"/>
              </a:rPr>
              <a:t>Minimalist</a:t>
            </a:r>
            <a:r>
              <a:rPr lang="en-GB" dirty="0"/>
              <a:t>" &amp; "</a:t>
            </a:r>
            <a:r>
              <a:rPr lang="en-GB" sz="1600" dirty="0">
                <a:ea typeface="+mn-lt"/>
                <a:cs typeface="+mn-lt"/>
              </a:rPr>
              <a:t>neoclassical</a:t>
            </a:r>
            <a:r>
              <a:rPr lang="en-GB" dirty="0"/>
              <a:t>"</a:t>
            </a:r>
            <a:endParaRPr lang="en-US"/>
          </a:p>
        </p:txBody>
      </p: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04A52DAD-9452-DF40-F416-CBBAF9B7B096}"/>
              </a:ext>
            </a:extLst>
          </p:cNvPr>
          <p:cNvSpPr/>
          <p:nvPr/>
        </p:nvSpPr>
        <p:spPr>
          <a:xfrm>
            <a:off x="3299287" y="4226684"/>
            <a:ext cx="3085830" cy="2045091"/>
          </a:xfrm>
          <a:prstGeom prst="flowChartDocument">
            <a:avLst/>
          </a:prstGeom>
          <a:solidFill>
            <a:srgbClr val="BC80E0">
              <a:alpha val="6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/>
              <a:t>Model</a:t>
            </a:r>
            <a:br>
              <a:rPr lang="en-GB" dirty="0"/>
            </a:br>
            <a:r>
              <a:rPr lang="en-GB" dirty="0"/>
              <a:t>"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Apartment</a:t>
            </a:r>
            <a:r>
              <a:rPr lang="en-GB" dirty="0"/>
              <a:t>"</a:t>
            </a:r>
            <a:br>
              <a:rPr lang="en-GB" dirty="0"/>
            </a:br>
            <a:r>
              <a:rPr lang="en-GB" dirty="0"/>
              <a:t>available Colores</a:t>
            </a:r>
            <a:br>
              <a:rPr lang="en-GB" dirty="0"/>
            </a:br>
            <a:r>
              <a:rPr lang="en-GB" dirty="0"/>
              <a:t>"</a:t>
            </a:r>
            <a:r>
              <a:rPr lang="en-GB" dirty="0">
                <a:solidFill>
                  <a:srgbClr val="541C1C"/>
                </a:solidFill>
              </a:rPr>
              <a:t>brown</a:t>
            </a:r>
            <a:r>
              <a:rPr lang="en-GB" dirty="0"/>
              <a:t>" &amp; "</a:t>
            </a:r>
            <a:r>
              <a:rPr lang="en-GB" dirty="0">
                <a:solidFill>
                  <a:schemeClr val="accent3">
                    <a:lumMod val="49000"/>
                  </a:schemeClr>
                </a:solidFill>
                <a:ea typeface="+mn-lt"/>
                <a:cs typeface="+mn-lt"/>
              </a:rPr>
              <a:t>beige</a:t>
            </a:r>
            <a:r>
              <a:rPr lang="en-GB" dirty="0"/>
              <a:t>"</a:t>
            </a:r>
            <a:br>
              <a:rPr lang="en-GB" dirty="0"/>
            </a:br>
            <a:r>
              <a:rPr lang="en-GB" dirty="0"/>
              <a:t>available styles</a:t>
            </a:r>
            <a:br>
              <a:rPr lang="en-GB" dirty="0"/>
            </a:br>
            <a:r>
              <a:rPr lang="en-GB" dirty="0"/>
              <a:t>"modern" &amp; "</a:t>
            </a:r>
            <a:r>
              <a:rPr lang="en-GB" dirty="0">
                <a:ea typeface="+mn-lt"/>
                <a:cs typeface="+mn-lt"/>
              </a:rPr>
              <a:t>Rustic</a:t>
            </a:r>
            <a:r>
              <a:rPr lang="en-GB" dirty="0"/>
              <a:t>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320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9A635-D871-EE0F-6257-10506D94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94F1BC-8017-79C5-B58C-8F1BE0808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15347"/>
              </p:ext>
            </p:extLst>
          </p:nvPr>
        </p:nvGraphicFramePr>
        <p:xfrm>
          <a:off x="4420733" y="455612"/>
          <a:ext cx="4371975" cy="48291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1400297897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741285708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18704221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1" u="sng" dirty="0">
                          <a:solidFill>
                            <a:srgbClr val="FFFFFF"/>
                          </a:solidFill>
                          <a:effectLst/>
                          <a:latin typeface="Trebuchet MS"/>
                        </a:rPr>
                        <a:t>Model </a:t>
                      </a:r>
                      <a:endParaRPr lang="en-GB" b="1" dirty="0">
                        <a:solidFill>
                          <a:srgbClr val="FFFFFF"/>
                        </a:solidFill>
                        <a:effectLst/>
                        <a:latin typeface="Trebuchet M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1" u="sng" dirty="0">
                          <a:solidFill>
                            <a:srgbClr val="FFFFFF"/>
                          </a:solidFill>
                          <a:effectLst/>
                          <a:latin typeface="Trebuchet MS"/>
                        </a:rPr>
                        <a:t>Colores</a:t>
                      </a:r>
                      <a:endParaRPr lang="en-GB" b="1" dirty="0">
                        <a:solidFill>
                          <a:srgbClr val="FFFFFF"/>
                        </a:solidFill>
                        <a:effectLst/>
                        <a:latin typeface="Trebuchet M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1" u="sng" dirty="0">
                          <a:solidFill>
                            <a:srgbClr val="FFFFFF"/>
                          </a:solidFill>
                          <a:effectLst/>
                          <a:latin typeface="Trebuchet MS"/>
                        </a:rPr>
                        <a:t>Style </a:t>
                      </a:r>
                      <a:endParaRPr lang="en-GB" b="1" dirty="0">
                        <a:solidFill>
                          <a:srgbClr val="FFFFFF"/>
                        </a:solidFill>
                        <a:effectLst/>
                        <a:latin typeface="Trebuchet M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0491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Villa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00"/>
                          </a:solidFill>
                          <a:effectLst/>
                          <a:latin typeface="Neue Haas Grotesk Text Pro"/>
                        </a:rPr>
                        <a:t>yellow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modern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43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24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Villa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00"/>
                          </a:solidFill>
                          <a:effectLst/>
                          <a:latin typeface="Neue Haas Grotesk Text Pro"/>
                        </a:rPr>
                        <a:t>yellow</a:t>
                      </a:r>
                      <a:endParaRPr lang="en-GB" dirty="0">
                        <a:solidFill>
                          <a:srgbClr val="FF0000"/>
                        </a:solidFill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classic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6876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Villa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  <a:latin typeface="Neue Haas Grotesk Text Pro"/>
                        </a:rPr>
                        <a:t>blue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modern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81067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Villa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0070C0"/>
                          </a:solidFill>
                          <a:effectLst/>
                          <a:latin typeface="Neue Haas Grotesk Text Pro"/>
                        </a:rPr>
                        <a:t>blue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classic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84976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Studio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541C1C"/>
                          </a:solidFill>
                          <a:effectLst/>
                          <a:latin typeface="Neue Haas Grotesk Text Pro"/>
                        </a:rPr>
                        <a:t>brown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Minimalist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4755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Studio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541C1C"/>
                          </a:solidFill>
                          <a:effectLst/>
                          <a:latin typeface="Neue Haas Grotesk Text Pro"/>
                        </a:rPr>
                        <a:t>brown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neoclassical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8874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Studio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828282"/>
                          </a:solidFill>
                          <a:effectLst/>
                          <a:latin typeface="Neue Haas Grotesk Text Pro"/>
                        </a:rPr>
                        <a:t>grey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Minimalist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78873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Studio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828282"/>
                          </a:solidFill>
                          <a:effectLst/>
                          <a:latin typeface="Neue Haas Grotesk Text Pro"/>
                        </a:rPr>
                        <a:t>grey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GB" sz="16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neoclassical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70352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Apartment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541C1C"/>
                          </a:solidFill>
                          <a:effectLst/>
                          <a:latin typeface="Neue Haas Grotesk Text Pro"/>
                        </a:rPr>
                        <a:t>brown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modern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43503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Apartment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541C1C"/>
                          </a:solidFill>
                          <a:effectLst/>
                          <a:latin typeface="Neue Haas Grotesk Text Pro"/>
                        </a:rPr>
                        <a:t>brown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Rustic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68194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Apartment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CFB997"/>
                          </a:solidFill>
                          <a:effectLst/>
                          <a:latin typeface="Neue Haas Grotesk Text Pro"/>
                        </a:rPr>
                        <a:t>beige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modern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9042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effectLst/>
                          <a:latin typeface="Neue Haas Grotesk Text Pro"/>
                        </a:rPr>
                        <a:t>Apartment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CFB997"/>
                          </a:solidFill>
                          <a:effectLst/>
                          <a:latin typeface="Neue Haas Grotesk Text Pro"/>
                        </a:rPr>
                        <a:t>beige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dirty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Rustic</a:t>
                      </a:r>
                      <a:endParaRPr lang="en-GB" dirty="0">
                        <a:effectLst/>
                        <a:latin typeface="Neue Haas Grotesk Text Pro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67839"/>
                  </a:ext>
                </a:extLst>
              </a:tr>
            </a:tbl>
          </a:graphicData>
        </a:graphic>
      </p:graphicFrame>
      <p:sp>
        <p:nvSpPr>
          <p:cNvPr id="9" name="object 3">
            <a:extLst>
              <a:ext uri="{FF2B5EF4-FFF2-40B4-BE49-F238E27FC236}">
                <a16:creationId xmlns:a16="http://schemas.microsoft.com/office/drawing/2014/main" id="{3CA23DE4-0335-4393-2CC6-50115CEDE395}"/>
              </a:ext>
            </a:extLst>
          </p:cNvPr>
          <p:cNvSpPr/>
          <p:nvPr/>
        </p:nvSpPr>
        <p:spPr>
          <a:xfrm>
            <a:off x="831912" y="5482868"/>
            <a:ext cx="5673090" cy="1102995"/>
          </a:xfrm>
          <a:custGeom>
            <a:avLst/>
            <a:gdLst/>
            <a:ahLst/>
            <a:cxnLst/>
            <a:rect l="l" t="t" r="r" b="b"/>
            <a:pathLst>
              <a:path w="5673090" h="1102995">
                <a:moveTo>
                  <a:pt x="5609869" y="1102564"/>
                </a:moveTo>
                <a:lnTo>
                  <a:pt x="62911" y="1102564"/>
                </a:lnTo>
                <a:lnTo>
                  <a:pt x="58532" y="1102129"/>
                </a:lnTo>
                <a:lnTo>
                  <a:pt x="22847" y="1085969"/>
                </a:lnTo>
                <a:lnTo>
                  <a:pt x="2156" y="1052706"/>
                </a:lnTo>
                <a:lnTo>
                  <a:pt x="0" y="1039654"/>
                </a:lnTo>
                <a:lnTo>
                  <a:pt x="0" y="1035240"/>
                </a:lnTo>
                <a:lnTo>
                  <a:pt x="0" y="62910"/>
                </a:lnTo>
                <a:lnTo>
                  <a:pt x="13803" y="26244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2"/>
                </a:lnTo>
                <a:lnTo>
                  <a:pt x="5669347" y="45642"/>
                </a:lnTo>
                <a:lnTo>
                  <a:pt x="5672782" y="62910"/>
                </a:lnTo>
                <a:lnTo>
                  <a:pt x="5672782" y="1039654"/>
                </a:lnTo>
                <a:lnTo>
                  <a:pt x="5658977" y="1076321"/>
                </a:lnTo>
                <a:lnTo>
                  <a:pt x="5627130" y="1099129"/>
                </a:lnTo>
                <a:lnTo>
                  <a:pt x="5614248" y="1102129"/>
                </a:lnTo>
                <a:lnTo>
                  <a:pt x="5609869" y="1102564"/>
                </a:lnTo>
                <a:close/>
              </a:path>
            </a:pathLst>
          </a:custGeom>
          <a:solidFill>
            <a:srgbClr val="FFEBED"/>
          </a:solidFill>
        </p:spPr>
        <p:txBody>
          <a:bodyPr wrap="square" lIns="0" tIns="0" rIns="0" bIns="0" rtlCol="0"/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5BE9959-F220-A938-24F0-8276B2F50423}"/>
              </a:ext>
            </a:extLst>
          </p:cNvPr>
          <p:cNvSpPr txBox="1"/>
          <p:nvPr/>
        </p:nvSpPr>
        <p:spPr>
          <a:xfrm>
            <a:off x="987543" y="5744549"/>
            <a:ext cx="5285740" cy="48096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335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44444"/>
                </a:solidFill>
                <a:latin typeface="Arial"/>
                <a:cs typeface="Arial"/>
              </a:rPr>
              <a:t>Issue:</a:t>
            </a:r>
            <a:r>
              <a:rPr sz="1200" b="1" spc="-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Adding</a:t>
            </a:r>
            <a:r>
              <a:rPr sz="1200" spc="-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new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color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sz="1200" spc="-20" dirty="0">
                <a:solidFill>
                  <a:srgbClr val="444444"/>
                </a:solidFill>
                <a:latin typeface="Arial MT"/>
                <a:cs typeface="Arial MT"/>
              </a:rPr>
              <a:t>(e.g. </a:t>
            </a:r>
            <a:r>
              <a:rPr lang="en-GB" sz="1200" b="1" spc="-20" dirty="0">
                <a:solidFill>
                  <a:srgbClr val="C00000"/>
                </a:solidFill>
                <a:latin typeface="Arial MT"/>
                <a:cs typeface="Arial MT"/>
              </a:rPr>
              <a:t>RED </a:t>
            </a:r>
            <a:r>
              <a:rPr lang="en-GB" sz="1200" spc="-20" dirty="0">
                <a:solidFill>
                  <a:srgbClr val="444444"/>
                </a:solidFill>
                <a:latin typeface="Arial MT"/>
                <a:cs typeface="Arial MT"/>
              </a:rPr>
              <a:t>)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r>
              <a:rPr sz="1200" spc="-4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lang="en-GB" sz="1200" spc="-45" dirty="0">
                <a:solidFill>
                  <a:srgbClr val="444444"/>
                </a:solidFill>
                <a:latin typeface="Arial MT"/>
                <a:cs typeface="Arial MT"/>
              </a:rPr>
              <a:t>Apartment </a:t>
            </a:r>
            <a:r>
              <a:rPr lang="en-GB" sz="1200" dirty="0">
                <a:solidFill>
                  <a:srgbClr val="444444"/>
                </a:solidFill>
                <a:latin typeface="Arial MT"/>
                <a:cs typeface="Arial MT"/>
              </a:rPr>
              <a:t>requires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multiple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rows.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Colors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styles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are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independent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but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forced</a:t>
            </a:r>
            <a:r>
              <a:rPr sz="12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Arial MT"/>
                <a:cs typeface="Arial MT"/>
              </a:rPr>
              <a:t>together.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1" name="Graphic 6" descr="Puzzle pieces with solid fill">
            <a:extLst>
              <a:ext uri="{FF2B5EF4-FFF2-40B4-BE49-F238E27FC236}">
                <a16:creationId xmlns:a16="http://schemas.microsoft.com/office/drawing/2014/main" id="{621B7FF4-F0C2-E104-AF7B-E9F7F26FE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624" y="4826303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2228DE-7525-DD5C-1E25-DC589652C886}"/>
              </a:ext>
            </a:extLst>
          </p:cNvPr>
          <p:cNvSpPr txBox="1"/>
          <p:nvPr/>
        </p:nvSpPr>
        <p:spPr>
          <a:xfrm>
            <a:off x="412750" y="381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solidFill>
                  <a:srgbClr val="444444"/>
                </a:solidFill>
                <a:latin typeface="Arial"/>
              </a:rPr>
              <a:t>Before 4NF (All columns are key):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6735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CAD827-91F0-08CC-8F5D-2B18456F2EDF}"/>
              </a:ext>
            </a:extLst>
          </p:cNvPr>
          <p:cNvSpPr/>
          <p:nvPr/>
        </p:nvSpPr>
        <p:spPr>
          <a:xfrm>
            <a:off x="534534" y="939101"/>
            <a:ext cx="2499698" cy="15755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E486D5BE-C8D4-AFA2-9C54-CDAB47AE49E7}"/>
              </a:ext>
            </a:extLst>
          </p:cNvPr>
          <p:cNvSpPr txBox="1">
            <a:spLocks noGrp="1"/>
          </p:cNvSpPr>
          <p:nvPr/>
        </p:nvSpPr>
        <p:spPr>
          <a:xfrm>
            <a:off x="521834" y="482780"/>
            <a:ext cx="5511345" cy="44820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/>
              <a:t>4NF</a:t>
            </a:r>
            <a:r>
              <a:rPr sz="2800" spc="15" dirty="0"/>
              <a:t> </a:t>
            </a:r>
            <a:r>
              <a:rPr sz="2800" dirty="0"/>
              <a:t>-</a:t>
            </a:r>
            <a:r>
              <a:rPr sz="2800" spc="30" dirty="0"/>
              <a:t> </a:t>
            </a:r>
            <a:r>
              <a:rPr sz="2800" spc="-10" dirty="0"/>
              <a:t>Solution</a:t>
            </a:r>
            <a:endParaRPr lang="en-US" sz="2800" spc="-10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28EC378F-CD7A-F46F-A71C-99F39F03EC72}"/>
              </a:ext>
            </a:extLst>
          </p:cNvPr>
          <p:cNvSpPr txBox="1"/>
          <p:nvPr/>
        </p:nvSpPr>
        <p:spPr>
          <a:xfrm>
            <a:off x="523074" y="1240272"/>
            <a:ext cx="5524980" cy="503984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 spc="-10" dirty="0">
                <a:solidFill>
                  <a:srgbClr val="444444"/>
                </a:solidFill>
                <a:latin typeface="Arial"/>
                <a:cs typeface="Arial"/>
              </a:rPr>
              <a:t>Solution:</a:t>
            </a:r>
            <a:r>
              <a:rPr sz="1600" b="1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Split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into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two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tables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where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each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multivalued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dependency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is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on</a:t>
            </a:r>
            <a:r>
              <a:rPr sz="1600"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44444"/>
                </a:solidFill>
                <a:latin typeface="Arial MT"/>
                <a:cs typeface="Arial MT"/>
              </a:rPr>
              <a:t>key.</a:t>
            </a:r>
            <a:endParaRPr lang="en-US" sz="1600">
              <a:latin typeface="Arial MT"/>
              <a:cs typeface="Arial M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A285CB-3911-C49B-56FB-879B6593E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260178"/>
              </p:ext>
            </p:extLst>
          </p:nvPr>
        </p:nvGraphicFramePr>
        <p:xfrm>
          <a:off x="5842734" y="1240971"/>
          <a:ext cx="3106612" cy="3960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3306">
                  <a:extLst>
                    <a:ext uri="{9D8B030D-6E8A-4147-A177-3AD203B41FA5}">
                      <a16:colId xmlns:a16="http://schemas.microsoft.com/office/drawing/2014/main" val="3693921898"/>
                    </a:ext>
                  </a:extLst>
                </a:gridCol>
                <a:gridCol w="1553306">
                  <a:extLst>
                    <a:ext uri="{9D8B030D-6E8A-4147-A177-3AD203B41FA5}">
                      <a16:colId xmlns:a16="http://schemas.microsoft.com/office/drawing/2014/main" val="34061607"/>
                    </a:ext>
                  </a:extLst>
                </a:gridCol>
              </a:tblGrid>
              <a:tr h="495060">
                <a:tc>
                  <a:txBody>
                    <a:bodyPr/>
                    <a:lstStyle/>
                    <a:p>
                      <a:pPr algn="ctr"/>
                      <a:r>
                        <a:rPr lang="en-GB" i="0" u="sng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u="sng" dirty="0" err="1"/>
                        <a:t>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728138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Villa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FFFF00"/>
                          </a:solidFill>
                          <a:latin typeface="Neue Haas Grotesk Text Pro"/>
                        </a:rPr>
                        <a:t>yellow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14022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Villa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0070C0"/>
                          </a:solidFill>
                          <a:latin typeface="Neue Haas Grotesk Text Pro"/>
                        </a:rPr>
                        <a:t>blue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410247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Studio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541C1C"/>
                          </a:solidFill>
                          <a:latin typeface="Neue Haas Grotesk Text Pro"/>
                        </a:rPr>
                        <a:t>brown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291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Studio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>
                              <a:lumMod val="49000"/>
                              <a:lumOff val="51000"/>
                            </a:schemeClr>
                          </a:solidFill>
                          <a:latin typeface="Neue Haas Grotesk Text Pro"/>
                        </a:rPr>
                        <a:t>grey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69020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Apartment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541C1C"/>
                          </a:solidFill>
                          <a:latin typeface="Neue Haas Grotesk Text Pro"/>
                        </a:rPr>
                        <a:t>brown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25332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Apartment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CFB997"/>
                          </a:solidFill>
                          <a:latin typeface="Neue Haas Grotesk Text Pro"/>
                        </a:rPr>
                        <a:t>beige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462955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Apartment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C00000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626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15EF38-ACAA-AFFF-C2D6-C44B40718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409570"/>
              </p:ext>
            </p:extLst>
          </p:nvPr>
        </p:nvGraphicFramePr>
        <p:xfrm>
          <a:off x="531223" y="1843605"/>
          <a:ext cx="3079396" cy="33613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9698">
                  <a:extLst>
                    <a:ext uri="{9D8B030D-6E8A-4147-A177-3AD203B41FA5}">
                      <a16:colId xmlns:a16="http://schemas.microsoft.com/office/drawing/2014/main" val="3693921898"/>
                    </a:ext>
                  </a:extLst>
                </a:gridCol>
                <a:gridCol w="1539698">
                  <a:extLst>
                    <a:ext uri="{9D8B030D-6E8A-4147-A177-3AD203B41FA5}">
                      <a16:colId xmlns:a16="http://schemas.microsoft.com/office/drawing/2014/main" val="34061607"/>
                    </a:ext>
                  </a:extLst>
                </a:gridCol>
              </a:tblGrid>
              <a:tr h="480186">
                <a:tc>
                  <a:txBody>
                    <a:bodyPr/>
                    <a:lstStyle/>
                    <a:p>
                      <a:pPr algn="ctr"/>
                      <a:r>
                        <a:rPr lang="en-GB" i="0" u="sng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u="sng" dirty="0" err="1"/>
                        <a:t>Styel</a:t>
                      </a:r>
                      <a:r>
                        <a:rPr lang="en-GB" u="sng" dirty="0"/>
                        <a:t> </a:t>
                      </a:r>
                      <a:endParaRPr lang="en-GB" u="sng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728138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Villa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FFFFFF"/>
                          </a:solidFill>
                          <a:latin typeface="Neue Haas Grotesk Text Pro"/>
                        </a:rPr>
                        <a:t>modern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14022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Villa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FFFFFF"/>
                          </a:solidFill>
                          <a:latin typeface="Neue Haas Grotesk Text Pro"/>
                        </a:rPr>
                        <a:t>classic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410247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Studio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FFFFFF"/>
                          </a:solidFill>
                          <a:latin typeface="Neue Haas Grotesk Text Pro"/>
                        </a:rPr>
                        <a:t>Minimalist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291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Studio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0" i="0" u="none" strike="noStrike" noProof="0" dirty="0">
                          <a:solidFill>
                            <a:srgbClr val="FFFFFF"/>
                          </a:solidFill>
                          <a:latin typeface="Neue Haas Grotesk Text Pro"/>
                        </a:rPr>
                        <a:t>neoclassical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269020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Apartment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FFFFFF"/>
                          </a:solidFill>
                          <a:latin typeface="Neue Haas Grotesk Text Pro"/>
                        </a:rPr>
                        <a:t>modern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25332"/>
                  </a:ext>
                </a:extLst>
              </a:tr>
              <a:tr h="48018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Apartment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FFFFFF"/>
                          </a:solidFill>
                          <a:latin typeface="Neue Haas Grotesk Text Pro"/>
                        </a:rPr>
                        <a:t>Rustic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462955"/>
                  </a:ext>
                </a:extLst>
              </a:tr>
            </a:tbl>
          </a:graphicData>
        </a:graphic>
      </p:graphicFrame>
      <p:sp>
        <p:nvSpPr>
          <p:cNvPr id="11" name="object 3">
            <a:extLst>
              <a:ext uri="{FF2B5EF4-FFF2-40B4-BE49-F238E27FC236}">
                <a16:creationId xmlns:a16="http://schemas.microsoft.com/office/drawing/2014/main" id="{92AA233E-46D8-9C74-320E-3ECF20EA38FD}"/>
              </a:ext>
            </a:extLst>
          </p:cNvPr>
          <p:cNvSpPr/>
          <p:nvPr/>
        </p:nvSpPr>
        <p:spPr>
          <a:xfrm>
            <a:off x="1000002" y="5416575"/>
            <a:ext cx="6543395" cy="1268911"/>
          </a:xfrm>
          <a:custGeom>
            <a:avLst/>
            <a:gdLst/>
            <a:ahLst/>
            <a:cxnLst/>
            <a:rect l="l" t="t" r="r" b="b"/>
            <a:pathLst>
              <a:path w="5673090" h="1094739">
                <a:moveTo>
                  <a:pt x="5609869" y="1094148"/>
                </a:moveTo>
                <a:lnTo>
                  <a:pt x="62911" y="1094148"/>
                </a:lnTo>
                <a:lnTo>
                  <a:pt x="58532" y="1093713"/>
                </a:lnTo>
                <a:lnTo>
                  <a:pt x="22847" y="1077545"/>
                </a:lnTo>
                <a:lnTo>
                  <a:pt x="2156" y="1044281"/>
                </a:lnTo>
                <a:lnTo>
                  <a:pt x="0" y="1031237"/>
                </a:lnTo>
                <a:lnTo>
                  <a:pt x="0" y="1026824"/>
                </a:lnTo>
                <a:lnTo>
                  <a:pt x="0" y="62910"/>
                </a:lnTo>
                <a:lnTo>
                  <a:pt x="13803" y="26236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2"/>
                </a:lnTo>
                <a:lnTo>
                  <a:pt x="5669347" y="45642"/>
                </a:lnTo>
                <a:lnTo>
                  <a:pt x="5672782" y="62910"/>
                </a:lnTo>
                <a:lnTo>
                  <a:pt x="5672782" y="1031237"/>
                </a:lnTo>
                <a:lnTo>
                  <a:pt x="5658977" y="1067887"/>
                </a:lnTo>
                <a:lnTo>
                  <a:pt x="5627130" y="1090704"/>
                </a:lnTo>
                <a:lnTo>
                  <a:pt x="5614248" y="1093713"/>
                </a:lnTo>
                <a:lnTo>
                  <a:pt x="5609869" y="1094148"/>
                </a:lnTo>
                <a:close/>
              </a:path>
            </a:pathLst>
          </a:custGeom>
          <a:solidFill>
            <a:srgbClr val="E7F5E8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F0EF443-7B1D-0345-4A97-8BC228E537A6}"/>
              </a:ext>
            </a:extLst>
          </p:cNvPr>
          <p:cNvSpPr txBox="1"/>
          <p:nvPr/>
        </p:nvSpPr>
        <p:spPr>
          <a:xfrm>
            <a:off x="1242718" y="5678256"/>
            <a:ext cx="6150569" cy="48096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33500"/>
              </a:lnSpc>
              <a:spcBef>
                <a:spcPts val="100"/>
              </a:spcBef>
            </a:pP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Each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table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represents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one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independent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fact.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Join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them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sz="1200" b="1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find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what</a:t>
            </a:r>
            <a:r>
              <a:rPr sz="1200" b="1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444444"/>
                </a:solidFill>
                <a:latin typeface="Arial MT"/>
                <a:cs typeface="Arial MT"/>
              </a:rPr>
              <a:t>products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people</a:t>
            </a:r>
            <a:r>
              <a:rPr sz="1200" b="1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will</a:t>
            </a:r>
            <a:r>
              <a:rPr sz="1200" b="1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eat.</a:t>
            </a:r>
            <a:r>
              <a:rPr sz="1200" b="1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No</a:t>
            </a:r>
            <a:r>
              <a:rPr sz="1200" b="1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444444"/>
                </a:solidFill>
                <a:latin typeface="Arial MT"/>
                <a:cs typeface="Arial MT"/>
              </a:rPr>
              <a:t>redundancy,</a:t>
            </a:r>
            <a:r>
              <a:rPr sz="1200" b="1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44444"/>
                </a:solidFill>
                <a:latin typeface="Arial MT"/>
                <a:cs typeface="Arial MT"/>
              </a:rPr>
              <a:t>no</a:t>
            </a:r>
            <a:r>
              <a:rPr sz="1200" b="1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444444"/>
                </a:solidFill>
                <a:latin typeface="Arial MT"/>
                <a:cs typeface="Arial MT"/>
              </a:rPr>
              <a:t>inconsistency!</a:t>
            </a:r>
            <a:endParaRPr lang="en-US" sz="1200" b="1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004123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F7C7-5CD7-93D4-266E-98C9EDCD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DA8526E-BA94-EC05-1C37-DA54FC276D82}"/>
              </a:ext>
            </a:extLst>
          </p:cNvPr>
          <p:cNvSpPr/>
          <p:nvPr/>
        </p:nvSpPr>
        <p:spPr>
          <a:xfrm>
            <a:off x="1035277" y="1499238"/>
            <a:ext cx="5200457" cy="92917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5770C48-D9F4-2797-6A50-C523C1540514}"/>
              </a:ext>
            </a:extLst>
          </p:cNvPr>
          <p:cNvSpPr/>
          <p:nvPr/>
        </p:nvSpPr>
        <p:spPr>
          <a:xfrm>
            <a:off x="911730" y="1737852"/>
            <a:ext cx="5926844" cy="3383163"/>
          </a:xfrm>
          <a:custGeom>
            <a:avLst/>
            <a:gdLst/>
            <a:ahLst/>
            <a:cxnLst/>
            <a:rect l="l" t="t" r="r" b="b"/>
            <a:pathLst>
              <a:path w="5673090" h="1616075">
                <a:moveTo>
                  <a:pt x="5609869" y="1615985"/>
                </a:moveTo>
                <a:lnTo>
                  <a:pt x="62911" y="1615985"/>
                </a:lnTo>
                <a:lnTo>
                  <a:pt x="58532" y="1615549"/>
                </a:lnTo>
                <a:lnTo>
                  <a:pt x="22847" y="1599381"/>
                </a:lnTo>
                <a:lnTo>
                  <a:pt x="2156" y="1566118"/>
                </a:lnTo>
                <a:lnTo>
                  <a:pt x="0" y="1553074"/>
                </a:lnTo>
                <a:lnTo>
                  <a:pt x="0" y="1548652"/>
                </a:lnTo>
                <a:lnTo>
                  <a:pt x="0" y="62910"/>
                </a:lnTo>
                <a:lnTo>
                  <a:pt x="13803" y="26227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83"/>
                </a:lnTo>
                <a:lnTo>
                  <a:pt x="5669347" y="45633"/>
                </a:lnTo>
                <a:lnTo>
                  <a:pt x="5672782" y="62910"/>
                </a:lnTo>
                <a:lnTo>
                  <a:pt x="5672782" y="1553074"/>
                </a:lnTo>
                <a:lnTo>
                  <a:pt x="5658977" y="1589733"/>
                </a:lnTo>
                <a:lnTo>
                  <a:pt x="5627130" y="1612541"/>
                </a:lnTo>
                <a:lnTo>
                  <a:pt x="5614248" y="1615549"/>
                </a:lnTo>
                <a:lnTo>
                  <a:pt x="5609869" y="1615985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6355DE3B-3520-68D6-E4F3-C612A5BA1695}"/>
              </a:ext>
            </a:extLst>
          </p:cNvPr>
          <p:cNvSpPr txBox="1">
            <a:spLocks noGrp="1"/>
          </p:cNvSpPr>
          <p:nvPr/>
        </p:nvSpPr>
        <p:spPr>
          <a:xfrm>
            <a:off x="1022577" y="1081494"/>
            <a:ext cx="5511345" cy="8303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2400" dirty="0"/>
              <a:t>Fifth Normal Form (5NF) - Definition</a:t>
            </a:r>
            <a:endParaRPr lang="en-US" sz="2400" b="0">
              <a:solidFill>
                <a:srgbClr val="000000"/>
              </a:solidFill>
            </a:endParaRPr>
          </a:p>
          <a:p>
            <a:pPr marL="12700">
              <a:spcBef>
                <a:spcPts val="135"/>
              </a:spcBef>
            </a:pPr>
            <a:endParaRPr lang="en-US" sz="2800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32BF1BEF-C5DE-29AA-E169-E33ABD939A6B}"/>
              </a:ext>
            </a:extLst>
          </p:cNvPr>
          <p:cNvSpPr txBox="1"/>
          <p:nvPr/>
        </p:nvSpPr>
        <p:spPr>
          <a:xfrm>
            <a:off x="1038583" y="1932571"/>
            <a:ext cx="5455738" cy="124143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25"/>
              </a:spcBef>
            </a:pPr>
            <a:r>
              <a:rPr sz="2400" b="1" spc="-10" dirty="0">
                <a:solidFill>
                  <a:srgbClr val="444444"/>
                </a:solidFill>
                <a:latin typeface="Arial"/>
                <a:cs typeface="Arial"/>
              </a:rPr>
              <a:t>Rule</a:t>
            </a:r>
            <a:r>
              <a:rPr lang="en-GB" sz="2400" b="1" spc="-10" dirty="0">
                <a:solidFill>
                  <a:srgbClr val="444444"/>
                </a:solidFill>
                <a:latin typeface="Arial"/>
                <a:cs typeface="Arial"/>
              </a:rPr>
              <a:t> - definition</a:t>
            </a:r>
            <a:r>
              <a:rPr sz="2400" b="1" spc="-10" dirty="0">
                <a:solidFill>
                  <a:srgbClr val="444444"/>
                </a:solidFill>
                <a:latin typeface="Arial"/>
                <a:cs typeface="Arial"/>
              </a:rPr>
              <a:t>:</a:t>
            </a:r>
            <a:endParaRPr lang="en-US" sz="2400">
              <a:latin typeface="Arial"/>
              <a:cs typeface="Arial"/>
            </a:endParaRPr>
          </a:p>
          <a:p>
            <a:pPr marL="12700" marR="5080">
              <a:lnSpc>
                <a:spcPct val="133500"/>
              </a:lnSpc>
              <a:spcBef>
                <a:spcPts val="1170"/>
              </a:spcBef>
            </a:pP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It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must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not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be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possible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to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describe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table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as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being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logical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result</a:t>
            </a:r>
            <a:r>
              <a:rPr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of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joining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some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other</a:t>
            </a:r>
            <a:r>
              <a:rPr spc="-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tables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444444"/>
                </a:solidFill>
                <a:latin typeface="Arial MT"/>
                <a:cs typeface="Arial MT"/>
              </a:rPr>
              <a:t>together.</a:t>
            </a:r>
            <a:endParaRPr>
              <a:latin typeface="Arial MT"/>
              <a:cs typeface="Arial MT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21145E2E-54F0-0FB4-2E86-9D78B9F6E706}"/>
              </a:ext>
            </a:extLst>
          </p:cNvPr>
          <p:cNvSpPr txBox="1"/>
          <p:nvPr/>
        </p:nvSpPr>
        <p:spPr>
          <a:xfrm>
            <a:off x="1022577" y="3796456"/>
            <a:ext cx="5471160" cy="110075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35900"/>
              </a:lnSpc>
              <a:spcBef>
                <a:spcPts val="95"/>
              </a:spcBef>
            </a:pP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In</a:t>
            </a:r>
            <a:r>
              <a:rPr spc="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other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words:</a:t>
            </a:r>
            <a:r>
              <a:rPr spc="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If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table</a:t>
            </a:r>
            <a:r>
              <a:rPr spc="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can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be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reconstructed</a:t>
            </a:r>
            <a:r>
              <a:rPr spc="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by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joining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smaller</a:t>
            </a:r>
            <a:r>
              <a:rPr spc="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tables,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444444"/>
                </a:solidFill>
                <a:latin typeface="Arial MT"/>
                <a:cs typeface="Arial MT"/>
              </a:rPr>
              <a:t>it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should</a:t>
            </a:r>
            <a:r>
              <a:rPr spc="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be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split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into</a:t>
            </a:r>
            <a:r>
              <a:rPr spc="3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those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444444"/>
                </a:solidFill>
                <a:latin typeface="Arial MT"/>
                <a:cs typeface="Arial MT"/>
              </a:rPr>
              <a:t>smaller</a:t>
            </a:r>
            <a:r>
              <a:rPr spc="3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444444"/>
                </a:solidFill>
                <a:latin typeface="Arial MT"/>
                <a:cs typeface="Arial MT"/>
              </a:rPr>
              <a:t>tables.</a:t>
            </a:r>
            <a:endParaRPr lang="en-US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1767414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B51D-890E-23C0-FCE4-D753942F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A0323AF6-9F28-33A3-8DBB-4E58EE710D94}"/>
              </a:ext>
            </a:extLst>
          </p:cNvPr>
          <p:cNvSpPr txBox="1"/>
          <p:nvPr/>
        </p:nvSpPr>
        <p:spPr>
          <a:xfrm>
            <a:off x="259614" y="202274"/>
            <a:ext cx="10030588" cy="826445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kern="0"/>
            </a:defPPr>
          </a:lstStyle>
          <a:p>
            <a:pPr marL="12700" marR="5080">
              <a:lnSpc>
                <a:spcPct val="133500"/>
              </a:lnSpc>
              <a:spcBef>
                <a:spcPts val="100"/>
              </a:spcBef>
            </a:pPr>
            <a:r>
              <a:rPr lang="en-US" b="1" spc="-10" dirty="0">
                <a:solidFill>
                  <a:srgbClr val="444444"/>
                </a:solidFill>
                <a:latin typeface="Arial"/>
                <a:cs typeface="Arial"/>
              </a:rPr>
              <a:t>Problem</a:t>
            </a:r>
            <a:r>
              <a:rPr lang="en-US" sz="1600" b="1" spc="-10" dirty="0">
                <a:solidFill>
                  <a:srgbClr val="444444"/>
                </a:solidFill>
                <a:latin typeface="Arial"/>
                <a:cs typeface="Arial"/>
              </a:rPr>
              <a:t>: </a:t>
            </a:r>
            <a:r>
              <a:rPr lang="en-US" sz="1600" spc="-10" dirty="0">
                <a:solidFill>
                  <a:srgbClr val="444444"/>
                </a:solidFill>
                <a:latin typeface="Segoe UI"/>
                <a:ea typeface="+mn-lt"/>
                <a:cs typeface="Segoe UI"/>
              </a:rPr>
              <a:t>Ice cream preferences - brands offer flavors, people like brands, people like flavors.</a:t>
            </a:r>
          </a:p>
          <a:p>
            <a:pPr>
              <a:spcBef>
                <a:spcPts val="45"/>
              </a:spcBef>
            </a:pPr>
            <a:endParaRPr lang="en-US" sz="1400" spc="-10" dirty="0">
              <a:latin typeface="Segoe UI"/>
              <a:ea typeface="+mn-lt"/>
              <a:cs typeface="Segoe UI"/>
            </a:endParaRPr>
          </a:p>
          <a:p>
            <a:pPr marL="12700">
              <a:spcBef>
                <a:spcPts val="90"/>
              </a:spcBef>
            </a:pPr>
            <a:endParaRPr lang="en-US" sz="1400" spc="-10" dirty="0">
              <a:solidFill>
                <a:srgbClr val="444444"/>
              </a:solidFill>
              <a:ea typeface="+mn-lt"/>
              <a:cs typeface="+mn-lt"/>
            </a:endParaRPr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8705CF5A-AFCC-FC17-8C16-5E2E48D74FF7}"/>
              </a:ext>
            </a:extLst>
          </p:cNvPr>
          <p:cNvSpPr/>
          <p:nvPr/>
        </p:nvSpPr>
        <p:spPr>
          <a:xfrm>
            <a:off x="350556" y="906491"/>
            <a:ext cx="3074945" cy="2045538"/>
          </a:xfrm>
          <a:prstGeom prst="flowChartDocument">
            <a:avLst/>
          </a:prstGeom>
          <a:solidFill>
            <a:srgbClr val="BD207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Brand "Azza"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available Flavors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"Vanilla"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"coco"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strawberry</a:t>
            </a:r>
            <a:r>
              <a:rPr lang="en-GB" dirty="0">
                <a:solidFill>
                  <a:schemeClr val="tx1"/>
                </a:solidFill>
              </a:rPr>
              <a:t>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"mango"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26B302A3-AB1A-7D76-7B67-F01B43A4BE55}"/>
              </a:ext>
            </a:extLst>
          </p:cNvPr>
          <p:cNvSpPr/>
          <p:nvPr/>
        </p:nvSpPr>
        <p:spPr>
          <a:xfrm>
            <a:off x="3430968" y="2174980"/>
            <a:ext cx="3085830" cy="2045091"/>
          </a:xfrm>
          <a:prstGeom prst="flowChartDocument">
            <a:avLst/>
          </a:prstGeom>
          <a:solidFill>
            <a:srgbClr val="8D2853">
              <a:alpha val="5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Brand "</a:t>
            </a:r>
            <a:r>
              <a:rPr lang="en-GB" dirty="0" err="1">
                <a:solidFill>
                  <a:schemeClr val="tx1"/>
                </a:solidFill>
                <a:ea typeface="+mn-lt"/>
                <a:cs typeface="+mn-lt"/>
              </a:rPr>
              <a:t>B'laban</a:t>
            </a:r>
            <a:r>
              <a:rPr lang="en-GB" dirty="0">
                <a:solidFill>
                  <a:schemeClr val="tx1"/>
                </a:solidFill>
              </a:rPr>
              <a:t>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available Flavors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"Vanilla"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"Pistachio"</a:t>
            </a:r>
          </a:p>
        </p:txBody>
      </p: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E93ABE81-F6F9-89AD-DAF5-EE48F5916D5F}"/>
              </a:ext>
            </a:extLst>
          </p:cNvPr>
          <p:cNvSpPr/>
          <p:nvPr/>
        </p:nvSpPr>
        <p:spPr>
          <a:xfrm>
            <a:off x="6523606" y="909533"/>
            <a:ext cx="3194687" cy="2224706"/>
          </a:xfrm>
          <a:prstGeom prst="flowChartDocument">
            <a:avLst/>
          </a:prstGeom>
          <a:solidFill>
            <a:srgbClr val="FBD9E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Brand "Sultana"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available Flavors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Vanilla</a:t>
            </a:r>
            <a:r>
              <a:rPr lang="en-GB" dirty="0">
                <a:solidFill>
                  <a:schemeClr val="tx1"/>
                </a:solidFill>
              </a:rPr>
              <a:t>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strawberry</a:t>
            </a:r>
            <a:r>
              <a:rPr lang="en-GB" dirty="0">
                <a:solidFill>
                  <a:schemeClr val="tx1"/>
                </a:solidFill>
              </a:rPr>
              <a:t>"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"mango"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3EF69EB4-A12F-5506-9E98-2F294BB03BDF}"/>
              </a:ext>
            </a:extLst>
          </p:cNvPr>
          <p:cNvSpPr/>
          <p:nvPr/>
        </p:nvSpPr>
        <p:spPr>
          <a:xfrm>
            <a:off x="105531" y="4412645"/>
            <a:ext cx="5154384" cy="1545770"/>
          </a:xfrm>
          <a:prstGeom prst="cloudCallou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"</a:t>
            </a:r>
            <a:r>
              <a:rPr lang="en-GB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 love "vanilla" &amp; "coco", from "Azza" &amp; "</a:t>
            </a:r>
            <a:r>
              <a:rPr lang="en-GB" dirty="0" err="1">
                <a:solidFill>
                  <a:schemeClr val="tx1"/>
                </a:solidFill>
                <a:ea typeface="+mn-lt"/>
                <a:cs typeface="+mn-lt"/>
              </a:rPr>
              <a:t>B'laban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" "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B7024A70-386D-D061-FF6E-1E8F3B703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17" y="6050945"/>
            <a:ext cx="914400" cy="914400"/>
          </a:xfrm>
          <a:prstGeom prst="rect">
            <a:avLst/>
          </a:prstGeom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42F919E9-E0BD-55A5-A30D-1FCF8E8DDAC9}"/>
              </a:ext>
            </a:extLst>
          </p:cNvPr>
          <p:cNvSpPr/>
          <p:nvPr/>
        </p:nvSpPr>
        <p:spPr>
          <a:xfrm>
            <a:off x="5120216" y="4382707"/>
            <a:ext cx="5154384" cy="1545770"/>
          </a:xfrm>
          <a:prstGeom prst="cloudCallou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"</a:t>
            </a:r>
            <a:r>
              <a:rPr lang="en-GB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 love "Pistachio", "mango" &amp; ^Strawberry^, from ^</a:t>
            </a:r>
            <a:r>
              <a:rPr lang="en-GB" dirty="0" err="1">
                <a:solidFill>
                  <a:schemeClr val="tx1"/>
                </a:solidFill>
                <a:ea typeface="+mn-lt"/>
                <a:cs typeface="+mn-lt"/>
              </a:rPr>
              <a:t>B'laban</a:t>
            </a:r>
            <a:r>
              <a:rPr lang="en-GB" dirty="0">
                <a:solidFill>
                  <a:schemeClr val="tx1"/>
                </a:solidFill>
                <a:ea typeface="+mn-lt"/>
                <a:cs typeface="+mn-lt"/>
              </a:rPr>
              <a:t>^ &amp; ^Sultana^"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4" name="Graphic 13" descr="Female Profile with solid fill">
            <a:extLst>
              <a:ext uri="{FF2B5EF4-FFF2-40B4-BE49-F238E27FC236}">
                <a16:creationId xmlns:a16="http://schemas.microsoft.com/office/drawing/2014/main" id="{64864A2E-CD78-3803-F4B2-640D164EB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277" y="6042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290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8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376CA204-CAB3-6F20-1A8C-63519338EA44}"/>
              </a:ext>
            </a:extLst>
          </p:cNvPr>
          <p:cNvSpPr/>
          <p:nvPr/>
        </p:nvSpPr>
        <p:spPr>
          <a:xfrm>
            <a:off x="886774" y="5592061"/>
            <a:ext cx="5673090" cy="1102995"/>
          </a:xfrm>
          <a:custGeom>
            <a:avLst/>
            <a:gdLst/>
            <a:ahLst/>
            <a:cxnLst/>
            <a:rect l="l" t="t" r="r" b="b"/>
            <a:pathLst>
              <a:path w="5673090" h="1102995">
                <a:moveTo>
                  <a:pt x="5609869" y="1102564"/>
                </a:moveTo>
                <a:lnTo>
                  <a:pt x="62911" y="1102564"/>
                </a:lnTo>
                <a:lnTo>
                  <a:pt x="58532" y="1102129"/>
                </a:lnTo>
                <a:lnTo>
                  <a:pt x="22847" y="1085969"/>
                </a:lnTo>
                <a:lnTo>
                  <a:pt x="2156" y="1052706"/>
                </a:lnTo>
                <a:lnTo>
                  <a:pt x="0" y="1039654"/>
                </a:lnTo>
                <a:lnTo>
                  <a:pt x="0" y="1035240"/>
                </a:lnTo>
                <a:lnTo>
                  <a:pt x="0" y="62910"/>
                </a:lnTo>
                <a:lnTo>
                  <a:pt x="13803" y="26244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2"/>
                </a:lnTo>
                <a:lnTo>
                  <a:pt x="5669347" y="45642"/>
                </a:lnTo>
                <a:lnTo>
                  <a:pt x="5672782" y="62910"/>
                </a:lnTo>
                <a:lnTo>
                  <a:pt x="5672782" y="1039654"/>
                </a:lnTo>
                <a:lnTo>
                  <a:pt x="5658977" y="1076321"/>
                </a:lnTo>
                <a:lnTo>
                  <a:pt x="5627130" y="1099129"/>
                </a:lnTo>
                <a:lnTo>
                  <a:pt x="5614248" y="1102129"/>
                </a:lnTo>
                <a:lnTo>
                  <a:pt x="5609869" y="1102564"/>
                </a:lnTo>
                <a:close/>
              </a:path>
            </a:pathLst>
          </a:custGeom>
          <a:solidFill>
            <a:srgbClr val="FFEBED"/>
          </a:solidFill>
        </p:spPr>
        <p:txBody>
          <a:bodyPr wrap="square" lIns="0" tIns="0" rIns="0" bIns="0" rtlCol="0"/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7D4C540B-9290-66E2-2269-C49859238D00}"/>
              </a:ext>
            </a:extLst>
          </p:cNvPr>
          <p:cNvSpPr txBox="1"/>
          <p:nvPr/>
        </p:nvSpPr>
        <p:spPr>
          <a:xfrm>
            <a:off x="1042405" y="5853742"/>
            <a:ext cx="5285740" cy="61568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GB" kern="0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spc="-10" dirty="0">
                <a:solidFill>
                  <a:srgbClr val="444444"/>
                </a:solidFill>
                <a:latin typeface="Arial"/>
                <a:cs typeface="Arial"/>
              </a:rPr>
              <a:t>Issue: </a:t>
            </a:r>
            <a:r>
              <a:rPr lang="en-US" sz="1200" spc="-10" dirty="0">
                <a:solidFill>
                  <a:srgbClr val="444444"/>
                </a:solidFill>
                <a:ea typeface="+mn-lt"/>
                <a:cs typeface="+mn-lt"/>
              </a:rPr>
              <a:t>If Woman now likes Azza brand, we must add multiple rows (one for each flavor she likes that Azza offers). Easy to create inconsistencies!</a:t>
            </a:r>
            <a:endParaRPr lang="en-US" sz="1200" spc="-10" dirty="0">
              <a:solidFill>
                <a:srgbClr val="000000"/>
              </a:solidFill>
              <a:ea typeface="+mn-lt"/>
              <a:cs typeface="+mn-lt"/>
            </a:endParaRPr>
          </a:p>
          <a:p>
            <a:pPr marL="12700" marR="5080">
              <a:lnSpc>
                <a:spcPct val="133500"/>
              </a:lnSpc>
              <a:spcBef>
                <a:spcPts val="100"/>
              </a:spcBef>
            </a:pPr>
            <a:endParaRPr sz="1200" spc="-10" dirty="0">
              <a:solidFill>
                <a:srgbClr val="444444"/>
              </a:solidFill>
              <a:latin typeface="Arial MT"/>
              <a:cs typeface="Arial MT"/>
            </a:endParaRPr>
          </a:p>
        </p:txBody>
      </p:sp>
      <p:pic>
        <p:nvPicPr>
          <p:cNvPr id="6" name="Graphic 6" descr="Puzzle pieces with solid fill">
            <a:extLst>
              <a:ext uri="{FF2B5EF4-FFF2-40B4-BE49-F238E27FC236}">
                <a16:creationId xmlns:a16="http://schemas.microsoft.com/office/drawing/2014/main" id="{4EAE4041-BAB6-FD9A-FA89-22D0C9369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486" y="4935496"/>
            <a:ext cx="914400" cy="9144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644F15-183C-71AD-F698-0A7FCB654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19762"/>
              </p:ext>
            </p:extLst>
          </p:nvPr>
        </p:nvGraphicFramePr>
        <p:xfrm>
          <a:off x="4311826" y="214874"/>
          <a:ext cx="4480962" cy="51065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3654">
                  <a:extLst>
                    <a:ext uri="{9D8B030D-6E8A-4147-A177-3AD203B41FA5}">
                      <a16:colId xmlns:a16="http://schemas.microsoft.com/office/drawing/2014/main" val="279155673"/>
                    </a:ext>
                  </a:extLst>
                </a:gridCol>
                <a:gridCol w="1493654">
                  <a:extLst>
                    <a:ext uri="{9D8B030D-6E8A-4147-A177-3AD203B41FA5}">
                      <a16:colId xmlns:a16="http://schemas.microsoft.com/office/drawing/2014/main" val="2930476728"/>
                    </a:ext>
                  </a:extLst>
                </a:gridCol>
                <a:gridCol w="1493654">
                  <a:extLst>
                    <a:ext uri="{9D8B030D-6E8A-4147-A177-3AD203B41FA5}">
                      <a16:colId xmlns:a16="http://schemas.microsoft.com/office/drawing/2014/main" val="1923838614"/>
                    </a:ext>
                  </a:extLst>
                </a:gridCol>
              </a:tblGrid>
              <a:tr h="72951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err="1"/>
                        <a:t>Flavor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334556"/>
                  </a:ext>
                </a:extLst>
              </a:tr>
              <a:tr h="72951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Azza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Vanilla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80820"/>
                  </a:ext>
                </a:extLst>
              </a:tr>
              <a:tr h="72951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Azza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934153"/>
                  </a:ext>
                </a:extLst>
              </a:tr>
              <a:tr h="72951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B'laban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Vanilla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086466"/>
                  </a:ext>
                </a:extLst>
              </a:tr>
              <a:tr h="72951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err="1">
                          <a:solidFill>
                            <a:schemeClr val="tx1"/>
                          </a:solidFill>
                          <a:latin typeface="Neue Haas Grotesk Text Pro"/>
                        </a:rPr>
                        <a:t>B'laban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Pistachio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687678"/>
                  </a:ext>
                </a:extLst>
              </a:tr>
              <a:tr h="72951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Sultana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mango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866070"/>
                  </a:ext>
                </a:extLst>
              </a:tr>
              <a:tr h="7295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dirty="0"/>
                        <a:t>Woman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Sultana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Strawberry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359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9996B31-9C53-02A8-F554-8714DE3F6149}"/>
              </a:ext>
            </a:extLst>
          </p:cNvPr>
          <p:cNvSpPr txBox="1"/>
          <p:nvPr/>
        </p:nvSpPr>
        <p:spPr>
          <a:xfrm>
            <a:off x="418498" y="240037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baseline="0">
                <a:solidFill>
                  <a:srgbClr val="444444"/>
                </a:solidFill>
                <a:latin typeface="Arial"/>
              </a:rPr>
              <a:t>Before 5NF (Deduced combinations):</a:t>
            </a:r>
            <a:r>
              <a:rPr sz="1600">
                <a:latin typeface="Arial"/>
                <a:ea typeface="Arial"/>
                <a:cs typeface="Arial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7439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8AAF76-575A-C25C-863B-16BCC1BC1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037193"/>
              </p:ext>
            </p:extLst>
          </p:nvPr>
        </p:nvGraphicFramePr>
        <p:xfrm>
          <a:off x="6638794" y="1127342"/>
          <a:ext cx="2732462" cy="36941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6231">
                  <a:extLst>
                    <a:ext uri="{9D8B030D-6E8A-4147-A177-3AD203B41FA5}">
                      <a16:colId xmlns:a16="http://schemas.microsoft.com/office/drawing/2014/main" val="918614538"/>
                    </a:ext>
                  </a:extLst>
                </a:gridCol>
                <a:gridCol w="1366231">
                  <a:extLst>
                    <a:ext uri="{9D8B030D-6E8A-4147-A177-3AD203B41FA5}">
                      <a16:colId xmlns:a16="http://schemas.microsoft.com/office/drawing/2014/main" val="2443641121"/>
                    </a:ext>
                  </a:extLst>
                </a:gridCol>
              </a:tblGrid>
              <a:tr h="323589">
                <a:tc>
                  <a:txBody>
                    <a:bodyPr/>
                    <a:lstStyle/>
                    <a:p>
                      <a:r>
                        <a:rPr lang="en-GB" u="sng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u="sng" dirty="0" err="1"/>
                        <a:t>flavor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311837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r>
                        <a:rPr lang="en-GB" dirty="0"/>
                        <a:t>Azza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Vanilla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161032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r>
                        <a:rPr lang="en-GB" dirty="0"/>
                        <a:t>Azza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coco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422179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r>
                        <a:rPr lang="en-GB" dirty="0"/>
                        <a:t>Azza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strawberry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162233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Azza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mango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730255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r>
                        <a:rPr lang="en-GB" dirty="0" err="1"/>
                        <a:t>B'laban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Vanilla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106979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B'laban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Pistachio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35241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Sultana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Vanilla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045526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Sultana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strawberry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225510"/>
                  </a:ext>
                </a:extLst>
              </a:tr>
              <a:tr h="3698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Sultana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mango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9599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AC7B0B-CBC5-AC4B-CAC2-B86AEC820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569321"/>
              </p:ext>
            </p:extLst>
          </p:nvPr>
        </p:nvGraphicFramePr>
        <p:xfrm>
          <a:off x="4070958" y="2379944"/>
          <a:ext cx="2029718" cy="24453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4859">
                  <a:extLst>
                    <a:ext uri="{9D8B030D-6E8A-4147-A177-3AD203B41FA5}">
                      <a16:colId xmlns:a16="http://schemas.microsoft.com/office/drawing/2014/main" val="918614538"/>
                    </a:ext>
                  </a:extLst>
                </a:gridCol>
                <a:gridCol w="1014859">
                  <a:extLst>
                    <a:ext uri="{9D8B030D-6E8A-4147-A177-3AD203B41FA5}">
                      <a16:colId xmlns:a16="http://schemas.microsoft.com/office/drawing/2014/main" val="2443641121"/>
                    </a:ext>
                  </a:extLst>
                </a:gridCol>
              </a:tblGrid>
              <a:tr h="456678">
                <a:tc>
                  <a:txBody>
                    <a:bodyPr/>
                    <a:lstStyle/>
                    <a:p>
                      <a:r>
                        <a:rPr lang="en-GB" u="sng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u="sng" dirty="0"/>
                        <a:t>Brand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311837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r>
                        <a:rPr lang="en-GB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Azza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161032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r>
                        <a:rPr lang="en-GB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B'laban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422179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r>
                        <a:rPr lang="en-GB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B'laban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162233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Sultana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73025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CE31C0A-D453-929B-E32B-6E8416645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977153"/>
              </p:ext>
            </p:extLst>
          </p:nvPr>
        </p:nvGraphicFramePr>
        <p:xfrm>
          <a:off x="254864" y="1832408"/>
          <a:ext cx="3269904" cy="2982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4952">
                  <a:extLst>
                    <a:ext uri="{9D8B030D-6E8A-4147-A177-3AD203B41FA5}">
                      <a16:colId xmlns:a16="http://schemas.microsoft.com/office/drawing/2014/main" val="918614538"/>
                    </a:ext>
                  </a:extLst>
                </a:gridCol>
                <a:gridCol w="1634952">
                  <a:extLst>
                    <a:ext uri="{9D8B030D-6E8A-4147-A177-3AD203B41FA5}">
                      <a16:colId xmlns:a16="http://schemas.microsoft.com/office/drawing/2014/main" val="2443641121"/>
                    </a:ext>
                  </a:extLst>
                </a:gridCol>
              </a:tblGrid>
              <a:tr h="497160">
                <a:tc>
                  <a:txBody>
                    <a:bodyPr/>
                    <a:lstStyle/>
                    <a:p>
                      <a:r>
                        <a:rPr lang="en-GB" u="sng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u="sng" dirty="0"/>
                        <a:t>Brand</a:t>
                      </a:r>
                      <a:endParaRPr lang="en-GB" u="sng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311837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r>
                        <a:rPr lang="en-GB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vanilla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161032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r>
                        <a:rPr lang="en-GB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coco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422179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r>
                        <a:rPr lang="en-GB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Pistachio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162233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mango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730255"/>
                  </a:ext>
                </a:extLst>
              </a:tr>
              <a:tr h="4971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Woman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chemeClr val="tx1"/>
                          </a:solidFill>
                          <a:latin typeface="Neue Haas Grotesk Text Pro"/>
                        </a:rPr>
                        <a:t>strawberry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079462"/>
                  </a:ext>
                </a:extLst>
              </a:tr>
            </a:tbl>
          </a:graphicData>
        </a:graphic>
      </p:graphicFrame>
      <p:sp>
        <p:nvSpPr>
          <p:cNvPr id="12" name="object 2">
            <a:extLst>
              <a:ext uri="{FF2B5EF4-FFF2-40B4-BE49-F238E27FC236}">
                <a16:creationId xmlns:a16="http://schemas.microsoft.com/office/drawing/2014/main" id="{50757FA1-D713-4964-67FB-6E02A3102EB3}"/>
              </a:ext>
            </a:extLst>
          </p:cNvPr>
          <p:cNvSpPr/>
          <p:nvPr/>
        </p:nvSpPr>
        <p:spPr>
          <a:xfrm>
            <a:off x="265119" y="702058"/>
            <a:ext cx="2528106" cy="103356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C70B2958-01A1-B218-F851-16A305D889A2}"/>
              </a:ext>
            </a:extLst>
          </p:cNvPr>
          <p:cNvSpPr txBox="1">
            <a:spLocks noGrp="1"/>
          </p:cNvSpPr>
          <p:nvPr/>
        </p:nvSpPr>
        <p:spPr>
          <a:xfrm>
            <a:off x="304610" y="247322"/>
            <a:ext cx="3757966" cy="44820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2800" dirty="0"/>
              <a:t>5NF</a:t>
            </a:r>
            <a:r>
              <a:rPr sz="2800" spc="15" dirty="0"/>
              <a:t> </a:t>
            </a:r>
            <a:r>
              <a:rPr sz="2800" dirty="0"/>
              <a:t>-</a:t>
            </a:r>
            <a:r>
              <a:rPr sz="2800" spc="30" dirty="0"/>
              <a:t> </a:t>
            </a:r>
            <a:r>
              <a:rPr sz="2800" spc="-10" dirty="0"/>
              <a:t>Solution</a:t>
            </a:r>
            <a:endParaRPr lang="en-US" sz="2800" spc="-10" dirty="0"/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F584A4AF-7335-4794-CB3B-32D1DCFD1078}"/>
              </a:ext>
            </a:extLst>
          </p:cNvPr>
          <p:cNvSpPr txBox="1"/>
          <p:nvPr/>
        </p:nvSpPr>
        <p:spPr>
          <a:xfrm>
            <a:off x="273742" y="1004814"/>
            <a:ext cx="6097768" cy="855362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kern="0"/>
            </a:defPPr>
          </a:lstStyle>
          <a:p>
            <a:r>
              <a:rPr lang="en-US" b="1" spc="-20" dirty="0">
                <a:solidFill>
                  <a:srgbClr val="444444"/>
                </a:solidFill>
                <a:latin typeface="Arial"/>
                <a:cs typeface="Arial"/>
              </a:rPr>
              <a:t>Solution: </a:t>
            </a:r>
            <a:r>
              <a:rPr lang="en-US" spc="-20" dirty="0">
                <a:solidFill>
                  <a:srgbClr val="444444"/>
                </a:solidFill>
                <a:ea typeface="+mn-lt"/>
                <a:cs typeface="+mn-lt"/>
              </a:rPr>
              <a:t>Split into three independent tables representing the three facts.</a:t>
            </a:r>
            <a:endParaRPr lang="en-US" spc="-20">
              <a:solidFill>
                <a:srgbClr val="000000"/>
              </a:solidFill>
              <a:ea typeface="+mn-lt"/>
              <a:cs typeface="+mn-lt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US" spc="-20" dirty="0">
              <a:solidFill>
                <a:srgbClr val="444444"/>
              </a:solidFill>
              <a:latin typeface="Arial MT"/>
              <a:cs typeface="Arial MT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86619CD9-BAC5-4927-BA5C-653B575571EC}"/>
              </a:ext>
            </a:extLst>
          </p:cNvPr>
          <p:cNvSpPr/>
          <p:nvPr/>
        </p:nvSpPr>
        <p:spPr>
          <a:xfrm>
            <a:off x="610735" y="5170199"/>
            <a:ext cx="7262403" cy="1258026"/>
          </a:xfrm>
          <a:custGeom>
            <a:avLst/>
            <a:gdLst/>
            <a:ahLst/>
            <a:cxnLst/>
            <a:rect l="l" t="t" r="r" b="b"/>
            <a:pathLst>
              <a:path w="5673090" h="1094739">
                <a:moveTo>
                  <a:pt x="5609869" y="1094148"/>
                </a:moveTo>
                <a:lnTo>
                  <a:pt x="62911" y="1094148"/>
                </a:lnTo>
                <a:lnTo>
                  <a:pt x="58532" y="1093713"/>
                </a:lnTo>
                <a:lnTo>
                  <a:pt x="22847" y="1077545"/>
                </a:lnTo>
                <a:lnTo>
                  <a:pt x="2156" y="1044281"/>
                </a:lnTo>
                <a:lnTo>
                  <a:pt x="0" y="1031237"/>
                </a:lnTo>
                <a:lnTo>
                  <a:pt x="0" y="1026824"/>
                </a:lnTo>
                <a:lnTo>
                  <a:pt x="0" y="62910"/>
                </a:lnTo>
                <a:lnTo>
                  <a:pt x="13803" y="26236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92"/>
                </a:lnTo>
                <a:lnTo>
                  <a:pt x="5669347" y="45642"/>
                </a:lnTo>
                <a:lnTo>
                  <a:pt x="5672782" y="62910"/>
                </a:lnTo>
                <a:lnTo>
                  <a:pt x="5672782" y="1031237"/>
                </a:lnTo>
                <a:lnTo>
                  <a:pt x="5658977" y="1067887"/>
                </a:lnTo>
                <a:lnTo>
                  <a:pt x="5627130" y="1090704"/>
                </a:lnTo>
                <a:lnTo>
                  <a:pt x="5614248" y="1093713"/>
                </a:lnTo>
                <a:lnTo>
                  <a:pt x="5609869" y="1094148"/>
                </a:lnTo>
                <a:close/>
              </a:path>
            </a:pathLst>
          </a:custGeom>
          <a:solidFill>
            <a:srgbClr val="E7F5E8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81229AB6-FDB1-948B-A2E9-BB1012FFB970}"/>
              </a:ext>
            </a:extLst>
          </p:cNvPr>
          <p:cNvSpPr txBox="1"/>
          <p:nvPr/>
        </p:nvSpPr>
        <p:spPr>
          <a:xfrm>
            <a:off x="853451" y="5431880"/>
            <a:ext cx="6825070" cy="67723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r>
              <a:rPr lang="en-US" sz="1400" spc="-10" dirty="0">
                <a:solidFill>
                  <a:srgbClr val="444444"/>
                </a:solidFill>
                <a:ea typeface="+mn-lt"/>
                <a:cs typeface="+mn-lt"/>
              </a:rPr>
              <a:t>Each table represents one independent fact. Join them to find what products people will eat. No redundancy, no inconsistency!</a:t>
            </a:r>
          </a:p>
          <a:p>
            <a:pPr marL="12700" marR="5080">
              <a:lnSpc>
                <a:spcPct val="133500"/>
              </a:lnSpc>
              <a:spcBef>
                <a:spcPts val="100"/>
              </a:spcBef>
            </a:pPr>
            <a:endParaRPr lang="en-US" sz="1200" b="1" spc="-10" dirty="0">
              <a:solidFill>
                <a:srgbClr val="444444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484771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C880234-188B-F8F1-60D4-4CDA628B09A4}"/>
              </a:ext>
            </a:extLst>
          </p:cNvPr>
          <p:cNvSpPr/>
          <p:nvPr/>
        </p:nvSpPr>
        <p:spPr>
          <a:xfrm>
            <a:off x="861657" y="1036240"/>
            <a:ext cx="4583141" cy="54336"/>
          </a:xfrm>
          <a:custGeom>
            <a:avLst/>
            <a:gdLst/>
            <a:ahLst/>
            <a:cxnLst/>
            <a:rect l="l" t="t" r="r" b="b"/>
            <a:pathLst>
              <a:path w="5673090" h="25400">
                <a:moveTo>
                  <a:pt x="5672781" y="25249"/>
                </a:moveTo>
                <a:lnTo>
                  <a:pt x="0" y="25249"/>
                </a:lnTo>
                <a:lnTo>
                  <a:pt x="0" y="0"/>
                </a:lnTo>
                <a:lnTo>
                  <a:pt x="5672781" y="0"/>
                </a:lnTo>
                <a:lnTo>
                  <a:pt x="5672781" y="25249"/>
                </a:lnTo>
                <a:close/>
              </a:path>
            </a:pathLst>
          </a:custGeom>
          <a:solidFill>
            <a:srgbClr val="4A8FE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DCC2D1E-CED8-CB89-67CC-506B3D795E86}"/>
              </a:ext>
            </a:extLst>
          </p:cNvPr>
          <p:cNvSpPr txBox="1">
            <a:spLocks noGrp="1"/>
          </p:cNvSpPr>
          <p:nvPr/>
        </p:nvSpPr>
        <p:spPr>
          <a:xfrm>
            <a:off x="858602" y="560633"/>
            <a:ext cx="5511345" cy="76110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>
            <a:lvl1pPr>
              <a:defRPr sz="2350" b="1" i="0">
                <a:solidFill>
                  <a:srgbClr val="333333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2400" spc="-10" dirty="0"/>
              <a:t>4NF vs 5NF - Quick Comparison</a:t>
            </a:r>
            <a:endParaRPr lang="en-US" sz="2400" b="0" spc="-10" dirty="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spc="-1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607DF2B-B11D-EAB5-C329-7238039F566A}"/>
              </a:ext>
            </a:extLst>
          </p:cNvPr>
          <p:cNvSpPr/>
          <p:nvPr/>
        </p:nvSpPr>
        <p:spPr>
          <a:xfrm>
            <a:off x="682718" y="1719112"/>
            <a:ext cx="3814463" cy="3643593"/>
          </a:xfrm>
          <a:custGeom>
            <a:avLst/>
            <a:gdLst/>
            <a:ahLst/>
            <a:cxnLst/>
            <a:rect l="l" t="t" r="r" b="b"/>
            <a:pathLst>
              <a:path w="5673090" h="1616075">
                <a:moveTo>
                  <a:pt x="5609869" y="1615985"/>
                </a:moveTo>
                <a:lnTo>
                  <a:pt x="62911" y="1615985"/>
                </a:lnTo>
                <a:lnTo>
                  <a:pt x="58532" y="1615549"/>
                </a:lnTo>
                <a:lnTo>
                  <a:pt x="22847" y="1599381"/>
                </a:lnTo>
                <a:lnTo>
                  <a:pt x="2156" y="1566118"/>
                </a:lnTo>
                <a:lnTo>
                  <a:pt x="0" y="1553074"/>
                </a:lnTo>
                <a:lnTo>
                  <a:pt x="0" y="1548652"/>
                </a:lnTo>
                <a:lnTo>
                  <a:pt x="0" y="62910"/>
                </a:lnTo>
                <a:lnTo>
                  <a:pt x="13803" y="26227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83"/>
                </a:lnTo>
                <a:lnTo>
                  <a:pt x="5669347" y="45633"/>
                </a:lnTo>
                <a:lnTo>
                  <a:pt x="5672782" y="62910"/>
                </a:lnTo>
                <a:lnTo>
                  <a:pt x="5672782" y="1553074"/>
                </a:lnTo>
                <a:lnTo>
                  <a:pt x="5658977" y="1589733"/>
                </a:lnTo>
                <a:lnTo>
                  <a:pt x="5627130" y="1612541"/>
                </a:lnTo>
                <a:lnTo>
                  <a:pt x="5614248" y="1615549"/>
                </a:lnTo>
                <a:lnTo>
                  <a:pt x="5609869" y="1615985"/>
                </a:lnTo>
                <a:close/>
              </a:path>
            </a:pathLst>
          </a:custGeom>
          <a:solidFill>
            <a:srgbClr val="F283C2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FA7608-741E-A6ED-2A02-E1F5D4CCBF4B}"/>
              </a:ext>
            </a:extLst>
          </p:cNvPr>
          <p:cNvSpPr txBox="1"/>
          <p:nvPr/>
        </p:nvSpPr>
        <p:spPr>
          <a:xfrm>
            <a:off x="680126" y="1784784"/>
            <a:ext cx="3813621" cy="3280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2400" b="1" dirty="0">
                <a:solidFill>
                  <a:srgbClr val="333333"/>
                </a:solidFill>
                <a:latin typeface="Arial"/>
                <a:cs typeface="Arial"/>
              </a:rPr>
              <a:t>4th Normal Form</a:t>
            </a:r>
            <a:endParaRPr lang="en-US" sz="2400">
              <a:latin typeface="Arial"/>
              <a:cs typeface="Arial"/>
            </a:endParaRPr>
          </a:p>
          <a:p>
            <a:pPr marL="517525" marR="139700">
              <a:lnSpc>
                <a:spcPct val="165700"/>
              </a:lnSpc>
              <a:spcBef>
                <a:spcPts val="715"/>
              </a:spcBef>
            </a:pPr>
            <a:r>
              <a:rPr lang="en-US" sz="1600" dirty="0">
                <a:latin typeface="Segoe UI"/>
                <a:cs typeface="Segoe UI"/>
              </a:rPr>
              <a:t>Deals with multivalued dependencies</a:t>
            </a:r>
          </a:p>
          <a:p>
            <a:pPr marL="517525" marR="5080">
              <a:lnSpc>
                <a:spcPct val="165700"/>
              </a:lnSpc>
            </a:pPr>
            <a:r>
              <a:rPr lang="en-US" sz="1600" dirty="0">
                <a:latin typeface="Segoe UI"/>
                <a:cs typeface="Segoe UI"/>
              </a:rPr>
              <a:t>Two independent sets of values</a:t>
            </a:r>
          </a:p>
          <a:p>
            <a:pPr marL="517525" marR="307975">
              <a:lnSpc>
                <a:spcPct val="165700"/>
              </a:lnSpc>
            </a:pPr>
            <a:r>
              <a:rPr lang="en-US" sz="1600" dirty="0">
                <a:latin typeface="Segoe UI"/>
                <a:cs typeface="Segoe UI"/>
              </a:rPr>
              <a:t>Solution: Split into 2 tables</a:t>
            </a:r>
          </a:p>
          <a:p>
            <a:pPr marL="517525" marR="274320">
              <a:lnSpc>
                <a:spcPct val="165700"/>
              </a:lnSpc>
            </a:pPr>
            <a:r>
              <a:rPr lang="en-US" sz="1600" dirty="0">
                <a:latin typeface="Segoe UI"/>
                <a:cs typeface="Segoe UI"/>
              </a:rPr>
              <a:t>Example: Model has colors AND styles independently</a:t>
            </a:r>
          </a:p>
          <a:p>
            <a:pPr algn="l"/>
            <a:endParaRPr lang="en-GB" dirty="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1E8F0CB5-48F3-B495-09D6-D60FB0429823}"/>
              </a:ext>
            </a:extLst>
          </p:cNvPr>
          <p:cNvSpPr/>
          <p:nvPr/>
        </p:nvSpPr>
        <p:spPr>
          <a:xfrm>
            <a:off x="5447629" y="1719112"/>
            <a:ext cx="3814463" cy="3643593"/>
          </a:xfrm>
          <a:custGeom>
            <a:avLst/>
            <a:gdLst/>
            <a:ahLst/>
            <a:cxnLst/>
            <a:rect l="l" t="t" r="r" b="b"/>
            <a:pathLst>
              <a:path w="5673090" h="1616075">
                <a:moveTo>
                  <a:pt x="5609869" y="1615985"/>
                </a:moveTo>
                <a:lnTo>
                  <a:pt x="62911" y="1615985"/>
                </a:lnTo>
                <a:lnTo>
                  <a:pt x="58532" y="1615549"/>
                </a:lnTo>
                <a:lnTo>
                  <a:pt x="22847" y="1599381"/>
                </a:lnTo>
                <a:lnTo>
                  <a:pt x="2156" y="1566118"/>
                </a:lnTo>
                <a:lnTo>
                  <a:pt x="0" y="1553074"/>
                </a:lnTo>
                <a:lnTo>
                  <a:pt x="0" y="1548652"/>
                </a:lnTo>
                <a:lnTo>
                  <a:pt x="0" y="62910"/>
                </a:lnTo>
                <a:lnTo>
                  <a:pt x="13803" y="26227"/>
                </a:lnTo>
                <a:lnTo>
                  <a:pt x="45650" y="3427"/>
                </a:lnTo>
                <a:lnTo>
                  <a:pt x="62911" y="0"/>
                </a:lnTo>
                <a:lnTo>
                  <a:pt x="5609869" y="0"/>
                </a:lnTo>
                <a:lnTo>
                  <a:pt x="5646532" y="13783"/>
                </a:lnTo>
                <a:lnTo>
                  <a:pt x="5669347" y="45633"/>
                </a:lnTo>
                <a:lnTo>
                  <a:pt x="5672782" y="62910"/>
                </a:lnTo>
                <a:lnTo>
                  <a:pt x="5672782" y="1553074"/>
                </a:lnTo>
                <a:lnTo>
                  <a:pt x="5658977" y="1589733"/>
                </a:lnTo>
                <a:lnTo>
                  <a:pt x="5627130" y="1612541"/>
                </a:lnTo>
                <a:lnTo>
                  <a:pt x="5614248" y="1615549"/>
                </a:lnTo>
                <a:lnTo>
                  <a:pt x="5609869" y="1615985"/>
                </a:lnTo>
                <a:close/>
              </a:path>
            </a:pathLst>
          </a:custGeom>
          <a:solidFill>
            <a:srgbClr val="FBD9EC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4260B-0AAF-CB7D-6CAF-00C0C5C45606}"/>
              </a:ext>
            </a:extLst>
          </p:cNvPr>
          <p:cNvSpPr txBox="1"/>
          <p:nvPr/>
        </p:nvSpPr>
        <p:spPr>
          <a:xfrm>
            <a:off x="5551138" y="1833012"/>
            <a:ext cx="3813621" cy="36893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2400" b="1" dirty="0">
                <a:solidFill>
                  <a:srgbClr val="333333"/>
                </a:solidFill>
                <a:latin typeface="Arial"/>
                <a:cs typeface="Arial"/>
              </a:rPr>
              <a:t>5th Normal Form</a:t>
            </a:r>
            <a:endParaRPr lang="en-US" sz="2400" dirty="0">
              <a:latin typeface="Arial"/>
              <a:cs typeface="Arial"/>
            </a:endParaRPr>
          </a:p>
          <a:p>
            <a:pPr marL="517525" marR="864235">
              <a:lnSpc>
                <a:spcPct val="165700"/>
              </a:lnSpc>
              <a:spcBef>
                <a:spcPts val="715"/>
              </a:spcBef>
            </a:pPr>
            <a:r>
              <a:rPr lang="en-US" sz="1600" dirty="0">
                <a:latin typeface="Segoe UI"/>
                <a:cs typeface="Segoe UI"/>
              </a:rPr>
              <a:t>Deals with join dependencies</a:t>
            </a:r>
          </a:p>
          <a:p>
            <a:pPr marL="517525" marR="5080">
              <a:lnSpc>
                <a:spcPct val="165700"/>
              </a:lnSpc>
            </a:pPr>
            <a:r>
              <a:rPr lang="en-US" sz="1600" dirty="0">
                <a:latin typeface="Segoe UI"/>
                <a:cs typeface="Segoe UI"/>
              </a:rPr>
              <a:t>Three or more independent facts</a:t>
            </a:r>
          </a:p>
          <a:p>
            <a:pPr marL="517525" marR="412750">
              <a:lnSpc>
                <a:spcPct val="165700"/>
              </a:lnSpc>
            </a:pPr>
            <a:r>
              <a:rPr lang="en-US" sz="1600" dirty="0">
                <a:latin typeface="Segoe UI"/>
                <a:cs typeface="Segoe UI"/>
              </a:rPr>
              <a:t>Solution: Split into 3+ tables</a:t>
            </a:r>
          </a:p>
          <a:p>
            <a:pPr marL="517525" marR="38735">
              <a:lnSpc>
                <a:spcPct val="165700"/>
              </a:lnSpc>
            </a:pPr>
            <a:r>
              <a:rPr lang="en-US" sz="1600" dirty="0">
                <a:latin typeface="Segoe UI"/>
                <a:cs typeface="Segoe UI"/>
              </a:rPr>
              <a:t>Example: Brands offer flavors, people like brands, people like flavors</a:t>
            </a:r>
            <a:endParaRPr lang="en-US" sz="1600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424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6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7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8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23" name="Picture 22" descr="A close-up of a yellow clock">
            <a:extLst>
              <a:ext uri="{FF2B5EF4-FFF2-40B4-BE49-F238E27FC236}">
                <a16:creationId xmlns:a16="http://schemas.microsoft.com/office/drawing/2014/main" id="{A4C0845A-6AF5-CCBF-BD1C-56DC6FFCA1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10629" t="9091" r="21348"/>
          <a:stretch>
            <a:fillRect/>
          </a:stretch>
        </p:blipFill>
        <p:spPr>
          <a:xfrm>
            <a:off x="5086350" y="-1"/>
            <a:ext cx="7102474" cy="6858001"/>
          </a:xfrm>
          <a:custGeom>
            <a:avLst/>
            <a:gdLst/>
            <a:ahLst/>
            <a:cxnLst/>
            <a:rect l="l" t="t" r="r" b="b"/>
            <a:pathLst>
              <a:path w="7102474" h="6858001">
                <a:moveTo>
                  <a:pt x="417180" y="0"/>
                </a:moveTo>
                <a:lnTo>
                  <a:pt x="7102474" y="0"/>
                </a:lnTo>
                <a:lnTo>
                  <a:pt x="7102474" y="6858001"/>
                </a:lnTo>
                <a:lnTo>
                  <a:pt x="65002" y="6858001"/>
                </a:lnTo>
                <a:lnTo>
                  <a:pt x="1840421" y="4521201"/>
                </a:lnTo>
                <a:close/>
                <a:moveTo>
                  <a:pt x="0" y="0"/>
                </a:moveTo>
                <a:lnTo>
                  <a:pt x="417180" y="0"/>
                </a:lnTo>
                <a:lnTo>
                  <a:pt x="0" y="44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584B41-C37B-C7B6-5F85-2433BEE6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6" y="1678666"/>
            <a:ext cx="5123515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85800" indent="-685800" algn="r"/>
            <a:r>
              <a:rPr lang="en-US" sz="4800" dirty="0"/>
              <a:t>Any Questions?</a:t>
            </a:r>
            <a:br>
              <a:rPr lang="en-US" sz="4800" dirty="0"/>
            </a:br>
            <a:r>
              <a:rPr lang="en-US" sz="4800" dirty="0"/>
              <a:t>,Thanks for your time!</a:t>
            </a:r>
            <a:endParaRPr lang="en-US" sz="480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3D2D849-17D8-45A4-9FB8-B955CD22B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A0A4A95-757B-4092-A077-CA7C3ADE4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23">
            <a:extLst>
              <a:ext uri="{FF2B5EF4-FFF2-40B4-BE49-F238E27FC236}">
                <a16:creationId xmlns:a16="http://schemas.microsoft.com/office/drawing/2014/main" id="{2D2FAE71-B8B1-4745-A59A-A88D3FE48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8" name="Rectangle 25">
            <a:extLst>
              <a:ext uri="{FF2B5EF4-FFF2-40B4-BE49-F238E27FC236}">
                <a16:creationId xmlns:a16="http://schemas.microsoft.com/office/drawing/2014/main" id="{E4C67344-C816-4380-85F7-CCFD7F8BA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9" name="Isosceles Triangle 24">
            <a:extLst>
              <a:ext uri="{FF2B5EF4-FFF2-40B4-BE49-F238E27FC236}">
                <a16:creationId xmlns:a16="http://schemas.microsoft.com/office/drawing/2014/main" id="{5A0B04CD-E5BD-4922-BE66-2D5B3A0DE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0" name="Rectangle 27">
            <a:extLst>
              <a:ext uri="{FF2B5EF4-FFF2-40B4-BE49-F238E27FC236}">
                <a16:creationId xmlns:a16="http://schemas.microsoft.com/office/drawing/2014/main" id="{CF4C9BE8-5C78-476D-9042-ECD8BE635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1" name="Rectangle 28">
            <a:extLst>
              <a:ext uri="{FF2B5EF4-FFF2-40B4-BE49-F238E27FC236}">
                <a16:creationId xmlns:a16="http://schemas.microsoft.com/office/drawing/2014/main" id="{7D6A31B3-BF49-4DB2-8306-DD2E4B889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" name="Rectangle 29">
            <a:extLst>
              <a:ext uri="{FF2B5EF4-FFF2-40B4-BE49-F238E27FC236}">
                <a16:creationId xmlns:a16="http://schemas.microsoft.com/office/drawing/2014/main" id="{A903E87B-DD97-4095-B106-3218D6AF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3" name="Isosceles Triangle 29">
            <a:extLst>
              <a:ext uri="{FF2B5EF4-FFF2-40B4-BE49-F238E27FC236}">
                <a16:creationId xmlns:a16="http://schemas.microsoft.com/office/drawing/2014/main" id="{954CB26F-45F0-4288-A3B1-32535127B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77051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Facet</vt:lpstr>
      <vt:lpstr>Normal Forms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 ,Thanks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939</cp:revision>
  <dcterms:created xsi:type="dcterms:W3CDTF">2025-12-06T09:15:39Z</dcterms:created>
  <dcterms:modified xsi:type="dcterms:W3CDTF">2025-12-07T13:36:38Z</dcterms:modified>
</cp:coreProperties>
</file>